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56" r:id="rId5"/>
    <p:sldId id="286" r:id="rId6"/>
    <p:sldId id="287" r:id="rId7"/>
    <p:sldId id="288" r:id="rId8"/>
    <p:sldId id="281" r:id="rId9"/>
    <p:sldId id="282" r:id="rId10"/>
    <p:sldId id="278" r:id="rId11"/>
    <p:sldId id="283" r:id="rId12"/>
    <p:sldId id="299" r:id="rId13"/>
    <p:sldId id="302" r:id="rId14"/>
    <p:sldId id="258" r:id="rId15"/>
    <p:sldId id="301" r:id="rId16"/>
    <p:sldId id="290" r:id="rId17"/>
    <p:sldId id="284" r:id="rId18"/>
    <p:sldId id="300" r:id="rId19"/>
    <p:sldId id="291" r:id="rId20"/>
    <p:sldId id="292" r:id="rId21"/>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655" autoAdjust="0"/>
  </p:normalViewPr>
  <p:slideViewPr>
    <p:cSldViewPr snapToGrid="0">
      <p:cViewPr varScale="1">
        <p:scale>
          <a:sx n="67" d="100"/>
          <a:sy n="67" d="100"/>
        </p:scale>
        <p:origin x="644" y="52"/>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Quick Sort</c:v>
                </c:pt>
              </c:strCache>
            </c:strRef>
          </c:tx>
          <c:spPr>
            <a:ln w="28575" cap="rnd">
              <a:solidFill>
                <a:schemeClr val="accent1"/>
              </a:solidFill>
              <a:round/>
            </a:ln>
            <a:effectLst/>
          </c:spPr>
          <c:marker>
            <c:symbol val="none"/>
          </c:marker>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pt idx="0">
                  <c:v>1.9000000000000001E-5</c:v>
                </c:pt>
                <c:pt idx="1">
                  <c:v>3.0000000000000001E-6</c:v>
                </c:pt>
                <c:pt idx="2">
                  <c:v>6.9999999999999999E-6</c:v>
                </c:pt>
                <c:pt idx="3">
                  <c:v>1.0000000000000001E-5</c:v>
                </c:pt>
                <c:pt idx="4">
                  <c:v>1.1E-5</c:v>
                </c:pt>
                <c:pt idx="5">
                  <c:v>1.1E-5</c:v>
                </c:pt>
              </c:numCache>
            </c:numRef>
          </c:val>
          <c:smooth val="0"/>
          <c:extLst>
            <c:ext xmlns:c16="http://schemas.microsoft.com/office/drawing/2014/chart" uri="{C3380CC4-5D6E-409C-BE32-E72D297353CC}">
              <c16:uniqueId val="{00000000-EF4C-49E9-A00A-37D7B5FBEF6F}"/>
            </c:ext>
          </c:extLst>
        </c:ser>
        <c:ser>
          <c:idx val="1"/>
          <c:order val="1"/>
          <c:tx>
            <c:strRef>
              <c:f>Sheet1!$C$1</c:f>
              <c:strCache>
                <c:ptCount val="1"/>
                <c:pt idx="0">
                  <c:v>Merge Sort</c:v>
                </c:pt>
              </c:strCache>
            </c:strRef>
          </c:tx>
          <c:spPr>
            <a:ln w="28575" cap="rnd">
              <a:solidFill>
                <a:schemeClr val="accent2"/>
              </a:solidFill>
              <a:round/>
            </a:ln>
            <a:effectLst/>
          </c:spPr>
          <c:marker>
            <c:symbol val="none"/>
          </c:marker>
          <c:cat>
            <c:numRef>
              <c:f>Sheet1!$A$2:$A$7</c:f>
              <c:numCache>
                <c:formatCode>General</c:formatCode>
                <c:ptCount val="6"/>
                <c:pt idx="0">
                  <c:v>1</c:v>
                </c:pt>
                <c:pt idx="1">
                  <c:v>2</c:v>
                </c:pt>
                <c:pt idx="2">
                  <c:v>3</c:v>
                </c:pt>
                <c:pt idx="3">
                  <c:v>4</c:v>
                </c:pt>
                <c:pt idx="4">
                  <c:v>5</c:v>
                </c:pt>
                <c:pt idx="5">
                  <c:v>6</c:v>
                </c:pt>
              </c:numCache>
            </c:numRef>
          </c:cat>
          <c:val>
            <c:numRef>
              <c:f>Sheet1!$C$2:$C$7</c:f>
              <c:numCache>
                <c:formatCode>General</c:formatCode>
                <c:ptCount val="6"/>
                <c:pt idx="0">
                  <c:v>1.9000000000000001E-5</c:v>
                </c:pt>
                <c:pt idx="1">
                  <c:v>6.0000000000000002E-6</c:v>
                </c:pt>
                <c:pt idx="2">
                  <c:v>7.9999999999999996E-6</c:v>
                </c:pt>
                <c:pt idx="3">
                  <c:v>9.0000000000000002E-6</c:v>
                </c:pt>
                <c:pt idx="4">
                  <c:v>1.0000000000000001E-5</c:v>
                </c:pt>
                <c:pt idx="5">
                  <c:v>9.0000000000000002E-6</c:v>
                </c:pt>
              </c:numCache>
            </c:numRef>
          </c:val>
          <c:smooth val="0"/>
          <c:extLst>
            <c:ext xmlns:c16="http://schemas.microsoft.com/office/drawing/2014/chart" uri="{C3380CC4-5D6E-409C-BE32-E72D297353CC}">
              <c16:uniqueId val="{00000001-EF4C-49E9-A00A-37D7B5FBEF6F}"/>
            </c:ext>
          </c:extLst>
        </c:ser>
        <c:dLbls>
          <c:showLegendKey val="0"/>
          <c:showVal val="0"/>
          <c:showCatName val="0"/>
          <c:showSerName val="0"/>
          <c:showPercent val="0"/>
          <c:showBubbleSize val="0"/>
        </c:dLbls>
        <c:smooth val="0"/>
        <c:axId val="1766809328"/>
        <c:axId val="1766809872"/>
      </c:lineChart>
      <c:catAx>
        <c:axId val="1766809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66809872"/>
        <c:crosses val="autoZero"/>
        <c:auto val="1"/>
        <c:lblAlgn val="ctr"/>
        <c:lblOffset val="100"/>
        <c:noMultiLvlLbl val="0"/>
      </c:catAx>
      <c:valAx>
        <c:axId val="17668098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668093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12/8/2025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2182522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840986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08AA5-60D9-AFE5-B48A-F87727555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357F69-4721-8B44-C44E-28A79DCEF9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FBE1AA-E8FB-1DDE-AB77-D2BA0343C1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3E8C2B-5710-AC34-4969-E379A8B64F22}"/>
              </a:ext>
            </a:extLst>
          </p:cNvPr>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3588250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76AEB-8A9B-3CA4-EEA8-668C96792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2B423-C1C1-E110-79AE-2BF1A10DD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34889-5EE6-B915-7503-33DFDDE1B5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8182D6-0EB0-BA52-D397-7494C676EEB9}"/>
              </a:ext>
            </a:extLst>
          </p:cNvPr>
          <p:cNvSpPr>
            <a:spLocks noGrp="1"/>
          </p:cNvSpPr>
          <p:nvPr>
            <p:ph type="sldNum" sz="quarter" idx="5"/>
          </p:nvPr>
        </p:nvSpPr>
        <p:spPr/>
        <p:txBody>
          <a:bodyPr/>
          <a:lstStyle/>
          <a:p>
            <a:fld id="{22289C57-55D7-40A4-A101-E74FAC7A092B}" type="slidenum">
              <a:rPr lang="en-US" smtClean="0"/>
              <a:t>12</a:t>
            </a:fld>
            <a:endParaRPr lang="en-US" dirty="0"/>
          </a:p>
        </p:txBody>
      </p:sp>
    </p:spTree>
    <p:extLst>
      <p:ext uri="{BB962C8B-B14F-4D97-AF65-F5344CB8AC3E}">
        <p14:creationId xmlns:p14="http://schemas.microsoft.com/office/powerpoint/2010/main" val="3033281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14</a:t>
            </a:fld>
            <a:endParaRPr lang="en-US" dirty="0"/>
          </a:p>
        </p:txBody>
      </p:sp>
    </p:spTree>
    <p:extLst>
      <p:ext uri="{BB962C8B-B14F-4D97-AF65-F5344CB8AC3E}">
        <p14:creationId xmlns:p14="http://schemas.microsoft.com/office/powerpoint/2010/main" val="575465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F02B2-48D8-6E79-548B-96EBEF5C4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E9C77-3C9F-F165-CC0B-93418AC616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2B955-CDA6-3161-C21B-BDBF7D9D63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89AA1C-56A4-3AE0-A24D-1156F24C1A80}"/>
              </a:ext>
            </a:extLst>
          </p:cNvPr>
          <p:cNvSpPr>
            <a:spLocks noGrp="1"/>
          </p:cNvSpPr>
          <p:nvPr>
            <p:ph type="sldNum" sz="quarter" idx="5"/>
          </p:nvPr>
        </p:nvSpPr>
        <p:spPr/>
        <p:txBody>
          <a:bodyPr/>
          <a:lstStyle/>
          <a:p>
            <a:fld id="{22289C57-55D7-40A4-A101-E74FAC7A092B}" type="slidenum">
              <a:rPr lang="en-US" smtClean="0"/>
              <a:t>15</a:t>
            </a:fld>
            <a:endParaRPr lang="en-US" dirty="0"/>
          </a:p>
        </p:txBody>
      </p:sp>
    </p:spTree>
    <p:extLst>
      <p:ext uri="{BB962C8B-B14F-4D97-AF65-F5344CB8AC3E}">
        <p14:creationId xmlns:p14="http://schemas.microsoft.com/office/powerpoint/2010/main" val="3737596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F7566-2D6B-89C0-FCA6-B08E54A48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F7442-0F55-035B-C611-0E3387E560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8FA66B-81FF-1761-D482-4B9EA04098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3098BD-6829-751D-379A-25685C595398}"/>
              </a:ext>
            </a:extLst>
          </p:cNvPr>
          <p:cNvSpPr>
            <a:spLocks noGrp="1"/>
          </p:cNvSpPr>
          <p:nvPr>
            <p:ph type="sldNum" sz="quarter" idx="5"/>
          </p:nvPr>
        </p:nvSpPr>
        <p:spPr/>
        <p:txBody>
          <a:bodyPr/>
          <a:lstStyle/>
          <a:p>
            <a:fld id="{22289C57-55D7-40A4-A101-E74FAC7A092B}" type="slidenum">
              <a:rPr lang="en-US" smtClean="0"/>
              <a:t>16</a:t>
            </a:fld>
            <a:endParaRPr lang="en-US" dirty="0"/>
          </a:p>
        </p:txBody>
      </p:sp>
    </p:spTree>
    <p:extLst>
      <p:ext uri="{BB962C8B-B14F-4D97-AF65-F5344CB8AC3E}">
        <p14:creationId xmlns:p14="http://schemas.microsoft.com/office/powerpoint/2010/main" val="4011483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F9FA0-9D27-D97F-BEC0-E43ECC771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68B6-DBE4-B60A-928C-1E3038135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E8E48-8366-1A2A-19FC-C35D4D2BA9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1377D9-0C02-1571-4B5A-C6FB919A9D05}"/>
              </a:ext>
            </a:extLst>
          </p:cNvPr>
          <p:cNvSpPr>
            <a:spLocks noGrp="1"/>
          </p:cNvSpPr>
          <p:nvPr>
            <p:ph type="sldNum" sz="quarter" idx="5"/>
          </p:nvPr>
        </p:nvSpPr>
        <p:spPr/>
        <p:txBody>
          <a:bodyPr/>
          <a:lstStyle/>
          <a:p>
            <a:fld id="{22289C57-55D7-40A4-A101-E74FAC7A092B}" type="slidenum">
              <a:rPr lang="en-US" smtClean="0"/>
              <a:t>17</a:t>
            </a:fld>
            <a:endParaRPr lang="en-US" dirty="0"/>
          </a:p>
        </p:txBody>
      </p:sp>
    </p:spTree>
    <p:extLst>
      <p:ext uri="{BB962C8B-B14F-4D97-AF65-F5344CB8AC3E}">
        <p14:creationId xmlns:p14="http://schemas.microsoft.com/office/powerpoint/2010/main" val="289314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18</a:t>
            </a:fld>
            <a:endParaRPr lang="en-US" dirty="0"/>
          </a:p>
        </p:txBody>
      </p:sp>
    </p:spTree>
    <p:extLst>
      <p:ext uri="{BB962C8B-B14F-4D97-AF65-F5344CB8AC3E}">
        <p14:creationId xmlns:p14="http://schemas.microsoft.com/office/powerpoint/2010/main" val="7026838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817838" y="1968350"/>
            <a:ext cx="4941771" cy="3200400"/>
          </a:xfrm>
        </p:spPr>
        <p:txBody>
          <a:bodyPr anchor="ctr"/>
          <a:lstStyle/>
          <a:p>
            <a:r>
              <a:rPr lang="sv-SE" dirty="0"/>
              <a:t>Merge Sort vs Quick Sort</a:t>
            </a:r>
            <a:endParaRPr lang="en-US" dirty="0"/>
          </a:p>
        </p:txBody>
      </p:sp>
      <p:sp>
        <p:nvSpPr>
          <p:cNvPr id="3" name="Content Placeholder 2">
            <a:extLst>
              <a:ext uri="{FF2B5EF4-FFF2-40B4-BE49-F238E27FC236}">
                <a16:creationId xmlns:a16="http://schemas.microsoft.com/office/drawing/2014/main" id="{DF291F53-FBB3-1D4C-B7F7-89E339A53A78}"/>
              </a:ext>
            </a:extLst>
          </p:cNvPr>
          <p:cNvSpPr txBox="1">
            <a:spLocks/>
          </p:cNvSpPr>
          <p:nvPr/>
        </p:nvSpPr>
        <p:spPr>
          <a:xfrm>
            <a:off x="4843464" y="4114800"/>
            <a:ext cx="6015038" cy="222743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600"/>
              </a:spcBef>
              <a:buNone/>
            </a:pPr>
            <a:r>
              <a:rPr lang="en-US" sz="2000" dirty="0"/>
              <a:t>By:</a:t>
            </a:r>
          </a:p>
          <a:p>
            <a:pPr marL="0" indent="0" algn="r">
              <a:spcBef>
                <a:spcPts val="600"/>
              </a:spcBef>
              <a:buNone/>
            </a:pPr>
            <a:r>
              <a:rPr lang="en-US" sz="2000" dirty="0" err="1"/>
              <a:t>Yeshwant</a:t>
            </a:r>
            <a:r>
              <a:rPr lang="en-US" sz="2000" dirty="0"/>
              <a:t> </a:t>
            </a:r>
            <a:r>
              <a:rPr lang="en-US" sz="2000" dirty="0" err="1"/>
              <a:t>Satyada</a:t>
            </a:r>
            <a:r>
              <a:rPr lang="en-US" sz="2000" dirty="0"/>
              <a:t> – AP24110012107</a:t>
            </a:r>
          </a:p>
          <a:p>
            <a:pPr marL="0" indent="0" algn="r">
              <a:spcBef>
                <a:spcPts val="600"/>
              </a:spcBef>
              <a:buNone/>
            </a:pPr>
            <a:r>
              <a:rPr lang="en-US" sz="2000" dirty="0" err="1"/>
              <a:t>Tanneeru</a:t>
            </a:r>
            <a:r>
              <a:rPr lang="en-US" sz="2000" dirty="0"/>
              <a:t> </a:t>
            </a:r>
            <a:r>
              <a:rPr lang="en-US" sz="2000" dirty="0" err="1"/>
              <a:t>Benhen</a:t>
            </a:r>
            <a:r>
              <a:rPr lang="en-US" sz="2000" dirty="0"/>
              <a:t> </a:t>
            </a:r>
            <a:r>
              <a:rPr lang="en-US" sz="2000" dirty="0" err="1"/>
              <a:t>Doondy</a:t>
            </a:r>
            <a:r>
              <a:rPr lang="en-US" sz="2000" dirty="0"/>
              <a:t> Nikhil – AP24110010890 </a:t>
            </a:r>
          </a:p>
          <a:p>
            <a:pPr marL="0" indent="0" algn="r">
              <a:spcBef>
                <a:spcPts val="600"/>
              </a:spcBef>
              <a:buNone/>
            </a:pPr>
            <a:r>
              <a:rPr lang="en-US" sz="2000" dirty="0" err="1"/>
              <a:t>Sanjana</a:t>
            </a:r>
            <a:r>
              <a:rPr lang="en-US" sz="2000" dirty="0"/>
              <a:t> </a:t>
            </a:r>
            <a:r>
              <a:rPr lang="en-US" sz="2000" dirty="0" err="1"/>
              <a:t>Cheetirala</a:t>
            </a:r>
            <a:r>
              <a:rPr lang="en-US" sz="2000" dirty="0"/>
              <a:t> - AP24110010892</a:t>
            </a:r>
          </a:p>
          <a:p>
            <a:pPr marL="0" indent="0" algn="r">
              <a:spcBef>
                <a:spcPts val="600"/>
              </a:spcBef>
              <a:buNone/>
            </a:pPr>
            <a:r>
              <a:rPr lang="en-US" sz="2000" dirty="0"/>
              <a:t>Shaik Afrid – AP24110010873</a:t>
            </a:r>
          </a:p>
          <a:p>
            <a:pPr marL="0" indent="0" algn="r">
              <a:spcBef>
                <a:spcPts val="600"/>
              </a:spcBef>
              <a:buNone/>
            </a:pPr>
            <a:r>
              <a:rPr lang="en-US" sz="2000" dirty="0"/>
              <a:t>Syed Tanveer Ahmed – AP24110010872</a:t>
            </a:r>
          </a:p>
          <a:p>
            <a:pPr marL="0" indent="0" algn="r">
              <a:spcBef>
                <a:spcPts val="600"/>
              </a:spcBef>
              <a:buNone/>
            </a:pPr>
            <a:endParaRPr lang="en-US" sz="2000" dirty="0"/>
          </a:p>
        </p:txBody>
      </p:sp>
    </p:spTree>
    <p:extLst>
      <p:ext uri="{BB962C8B-B14F-4D97-AF65-F5344CB8AC3E}">
        <p14:creationId xmlns:p14="http://schemas.microsoft.com/office/powerpoint/2010/main" val="258605881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794E8-EEA0-350D-03CC-0768CD1FBA57}"/>
              </a:ext>
            </a:extLst>
          </p:cNvPr>
          <p:cNvSpPr>
            <a:spLocks noGrp="1"/>
          </p:cNvSpPr>
          <p:nvPr>
            <p:ph type="title"/>
          </p:nvPr>
        </p:nvSpPr>
        <p:spPr>
          <a:xfrm>
            <a:off x="4765419" y="369995"/>
            <a:ext cx="2661161" cy="618565"/>
          </a:xfrm>
        </p:spPr>
        <p:txBody>
          <a:bodyPr>
            <a:normAutofit fontScale="90000"/>
          </a:bodyPr>
          <a:lstStyle/>
          <a:p>
            <a:pPr algn="ctr"/>
            <a:r>
              <a:rPr lang="en-IN" sz="3600" b="1" dirty="0"/>
              <a:t>Contents</a:t>
            </a:r>
          </a:p>
        </p:txBody>
      </p:sp>
      <p:sp>
        <p:nvSpPr>
          <p:cNvPr id="4" name="Slide Number Placeholder 3">
            <a:extLst>
              <a:ext uri="{FF2B5EF4-FFF2-40B4-BE49-F238E27FC236}">
                <a16:creationId xmlns:a16="http://schemas.microsoft.com/office/drawing/2014/main" id="{C78C9797-45C6-ED50-5CA3-0139E050FD24}"/>
              </a:ext>
            </a:extLst>
          </p:cNvPr>
          <p:cNvSpPr>
            <a:spLocks noGrp="1"/>
          </p:cNvSpPr>
          <p:nvPr>
            <p:ph type="sldNum" sz="quarter" idx="12"/>
          </p:nvPr>
        </p:nvSpPr>
        <p:spPr/>
        <p:txBody>
          <a:bodyPr/>
          <a:lstStyle/>
          <a:p>
            <a:fld id="{A49DFD55-3C28-40EF-9E31-A92D2E4017FF}" type="slidenum">
              <a:rPr lang="en-US" smtClean="0"/>
              <a:pPr/>
              <a:t>2</a:t>
            </a:fld>
            <a:endParaRPr lang="en-US" dirty="0"/>
          </a:p>
        </p:txBody>
      </p:sp>
      <p:sp>
        <p:nvSpPr>
          <p:cNvPr id="5" name="Oval 4">
            <a:extLst>
              <a:ext uri="{FF2B5EF4-FFF2-40B4-BE49-F238E27FC236}">
                <a16:creationId xmlns:a16="http://schemas.microsoft.com/office/drawing/2014/main" id="{9A61A924-3762-471D-2FB2-E3DD90BA42D0}"/>
              </a:ext>
            </a:extLst>
          </p:cNvPr>
          <p:cNvSpPr/>
          <p:nvPr/>
        </p:nvSpPr>
        <p:spPr>
          <a:xfrm>
            <a:off x="2432896" y="1696720"/>
            <a:ext cx="792480" cy="75184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1</a:t>
            </a:r>
          </a:p>
        </p:txBody>
      </p:sp>
      <p:sp>
        <p:nvSpPr>
          <p:cNvPr id="13" name="Oval 12">
            <a:extLst>
              <a:ext uri="{FF2B5EF4-FFF2-40B4-BE49-F238E27FC236}">
                <a16:creationId xmlns:a16="http://schemas.microsoft.com/office/drawing/2014/main" id="{3307C8B2-EE79-F47A-FCAC-94B861F8B8E1}"/>
              </a:ext>
            </a:extLst>
          </p:cNvPr>
          <p:cNvSpPr/>
          <p:nvPr/>
        </p:nvSpPr>
        <p:spPr>
          <a:xfrm>
            <a:off x="2432896" y="2581834"/>
            <a:ext cx="792480" cy="75184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2</a:t>
            </a:r>
          </a:p>
        </p:txBody>
      </p:sp>
      <p:sp>
        <p:nvSpPr>
          <p:cNvPr id="14" name="Content Placeholder 2">
            <a:extLst>
              <a:ext uri="{FF2B5EF4-FFF2-40B4-BE49-F238E27FC236}">
                <a16:creationId xmlns:a16="http://schemas.microsoft.com/office/drawing/2014/main" id="{D767276D-540A-FBAD-F5A4-E2865B8A9A69}"/>
              </a:ext>
            </a:extLst>
          </p:cNvPr>
          <p:cNvSpPr txBox="1">
            <a:spLocks/>
          </p:cNvSpPr>
          <p:nvPr/>
        </p:nvSpPr>
        <p:spPr>
          <a:xfrm>
            <a:off x="3225376" y="2715108"/>
            <a:ext cx="2170630" cy="61856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dirty="0"/>
              <a:t>Quick Sort</a:t>
            </a:r>
          </a:p>
        </p:txBody>
      </p:sp>
      <p:sp>
        <p:nvSpPr>
          <p:cNvPr id="15" name="Oval 14">
            <a:extLst>
              <a:ext uri="{FF2B5EF4-FFF2-40B4-BE49-F238E27FC236}">
                <a16:creationId xmlns:a16="http://schemas.microsoft.com/office/drawing/2014/main" id="{73D13D83-1B6B-3D7E-84A2-45ACFB8A4BF2}"/>
              </a:ext>
            </a:extLst>
          </p:cNvPr>
          <p:cNvSpPr/>
          <p:nvPr/>
        </p:nvSpPr>
        <p:spPr>
          <a:xfrm>
            <a:off x="2432896" y="3466948"/>
            <a:ext cx="792480" cy="75184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3</a:t>
            </a:r>
          </a:p>
        </p:txBody>
      </p:sp>
      <p:sp>
        <p:nvSpPr>
          <p:cNvPr id="16" name="Content Placeholder 2">
            <a:extLst>
              <a:ext uri="{FF2B5EF4-FFF2-40B4-BE49-F238E27FC236}">
                <a16:creationId xmlns:a16="http://schemas.microsoft.com/office/drawing/2014/main" id="{4EACBDA0-9C8E-67DB-E860-4D15F2DAF1ED}"/>
              </a:ext>
            </a:extLst>
          </p:cNvPr>
          <p:cNvSpPr txBox="1">
            <a:spLocks/>
          </p:cNvSpPr>
          <p:nvPr/>
        </p:nvSpPr>
        <p:spPr>
          <a:xfrm>
            <a:off x="3225376" y="3600222"/>
            <a:ext cx="2170630" cy="61856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dirty="0"/>
              <a:t>Merge Sort</a:t>
            </a:r>
          </a:p>
        </p:txBody>
      </p:sp>
      <p:sp>
        <p:nvSpPr>
          <p:cNvPr id="17" name="Oval 16">
            <a:extLst>
              <a:ext uri="{FF2B5EF4-FFF2-40B4-BE49-F238E27FC236}">
                <a16:creationId xmlns:a16="http://schemas.microsoft.com/office/drawing/2014/main" id="{0816BA64-07F5-5076-0072-1055F406263C}"/>
              </a:ext>
            </a:extLst>
          </p:cNvPr>
          <p:cNvSpPr/>
          <p:nvPr/>
        </p:nvSpPr>
        <p:spPr>
          <a:xfrm>
            <a:off x="2432896" y="4352062"/>
            <a:ext cx="792480" cy="75184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4</a:t>
            </a:r>
          </a:p>
        </p:txBody>
      </p:sp>
      <p:sp>
        <p:nvSpPr>
          <p:cNvPr id="18" name="Content Placeholder 2">
            <a:extLst>
              <a:ext uri="{FF2B5EF4-FFF2-40B4-BE49-F238E27FC236}">
                <a16:creationId xmlns:a16="http://schemas.microsoft.com/office/drawing/2014/main" id="{27B73955-5900-0D83-3380-A6F084448AEB}"/>
              </a:ext>
            </a:extLst>
          </p:cNvPr>
          <p:cNvSpPr txBox="1">
            <a:spLocks/>
          </p:cNvSpPr>
          <p:nvPr/>
        </p:nvSpPr>
        <p:spPr>
          <a:xfrm>
            <a:off x="3225376" y="4485336"/>
            <a:ext cx="2170630" cy="618566"/>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dirty="0"/>
              <a:t>Performance </a:t>
            </a:r>
          </a:p>
        </p:txBody>
      </p:sp>
      <p:sp>
        <p:nvSpPr>
          <p:cNvPr id="19" name="Oval 18">
            <a:extLst>
              <a:ext uri="{FF2B5EF4-FFF2-40B4-BE49-F238E27FC236}">
                <a16:creationId xmlns:a16="http://schemas.microsoft.com/office/drawing/2014/main" id="{2B468D4D-D3DB-F6F9-A642-BECCB859EAF5}"/>
              </a:ext>
            </a:extLst>
          </p:cNvPr>
          <p:cNvSpPr/>
          <p:nvPr/>
        </p:nvSpPr>
        <p:spPr>
          <a:xfrm>
            <a:off x="2432896" y="5237176"/>
            <a:ext cx="792480" cy="75184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5</a:t>
            </a:r>
          </a:p>
        </p:txBody>
      </p:sp>
      <p:sp>
        <p:nvSpPr>
          <p:cNvPr id="20" name="Content Placeholder 2">
            <a:extLst>
              <a:ext uri="{FF2B5EF4-FFF2-40B4-BE49-F238E27FC236}">
                <a16:creationId xmlns:a16="http://schemas.microsoft.com/office/drawing/2014/main" id="{604B5242-27D1-4057-C032-982B6AAAB80F}"/>
              </a:ext>
            </a:extLst>
          </p:cNvPr>
          <p:cNvSpPr txBox="1">
            <a:spLocks/>
          </p:cNvSpPr>
          <p:nvPr/>
        </p:nvSpPr>
        <p:spPr>
          <a:xfrm>
            <a:off x="3225376" y="5370450"/>
            <a:ext cx="2170630" cy="61856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dirty="0"/>
              <a:t>Test data</a:t>
            </a:r>
          </a:p>
        </p:txBody>
      </p:sp>
      <p:sp>
        <p:nvSpPr>
          <p:cNvPr id="21" name="Oval 20">
            <a:extLst>
              <a:ext uri="{FF2B5EF4-FFF2-40B4-BE49-F238E27FC236}">
                <a16:creationId xmlns:a16="http://schemas.microsoft.com/office/drawing/2014/main" id="{249FC4EB-0077-E61F-D663-FFAD8BE29C05}"/>
              </a:ext>
            </a:extLst>
          </p:cNvPr>
          <p:cNvSpPr/>
          <p:nvPr/>
        </p:nvSpPr>
        <p:spPr>
          <a:xfrm>
            <a:off x="5396006" y="1696720"/>
            <a:ext cx="792480" cy="75184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6</a:t>
            </a:r>
          </a:p>
        </p:txBody>
      </p:sp>
      <p:sp>
        <p:nvSpPr>
          <p:cNvPr id="22" name="Content Placeholder 2">
            <a:extLst>
              <a:ext uri="{FF2B5EF4-FFF2-40B4-BE49-F238E27FC236}">
                <a16:creationId xmlns:a16="http://schemas.microsoft.com/office/drawing/2014/main" id="{DE8AE7DA-57B3-EF5D-E602-70168E747F77}"/>
              </a:ext>
            </a:extLst>
          </p:cNvPr>
          <p:cNvSpPr txBox="1">
            <a:spLocks/>
          </p:cNvSpPr>
          <p:nvPr/>
        </p:nvSpPr>
        <p:spPr>
          <a:xfrm>
            <a:off x="6188486" y="1829994"/>
            <a:ext cx="2170630" cy="61856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dirty="0"/>
              <a:t>Observation</a:t>
            </a:r>
          </a:p>
        </p:txBody>
      </p:sp>
      <p:sp>
        <p:nvSpPr>
          <p:cNvPr id="23" name="Oval 22">
            <a:extLst>
              <a:ext uri="{FF2B5EF4-FFF2-40B4-BE49-F238E27FC236}">
                <a16:creationId xmlns:a16="http://schemas.microsoft.com/office/drawing/2014/main" id="{E1C17055-45CD-02BF-9FB5-C78BAB58BBBC}"/>
              </a:ext>
            </a:extLst>
          </p:cNvPr>
          <p:cNvSpPr/>
          <p:nvPr/>
        </p:nvSpPr>
        <p:spPr>
          <a:xfrm>
            <a:off x="5396006" y="2581834"/>
            <a:ext cx="792480" cy="75184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7</a:t>
            </a:r>
          </a:p>
        </p:txBody>
      </p:sp>
      <p:sp>
        <p:nvSpPr>
          <p:cNvPr id="24" name="Content Placeholder 2">
            <a:extLst>
              <a:ext uri="{FF2B5EF4-FFF2-40B4-BE49-F238E27FC236}">
                <a16:creationId xmlns:a16="http://schemas.microsoft.com/office/drawing/2014/main" id="{D189D1C4-DDDC-1E67-E7B7-CBBFE68D6B2D}"/>
              </a:ext>
            </a:extLst>
          </p:cNvPr>
          <p:cNvSpPr txBox="1">
            <a:spLocks/>
          </p:cNvSpPr>
          <p:nvPr/>
        </p:nvSpPr>
        <p:spPr>
          <a:xfrm>
            <a:off x="6188486" y="2715108"/>
            <a:ext cx="2170630" cy="618566"/>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dirty="0"/>
              <a:t>When to use</a:t>
            </a:r>
          </a:p>
        </p:txBody>
      </p:sp>
      <p:sp>
        <p:nvSpPr>
          <p:cNvPr id="25" name="Oval 24">
            <a:extLst>
              <a:ext uri="{FF2B5EF4-FFF2-40B4-BE49-F238E27FC236}">
                <a16:creationId xmlns:a16="http://schemas.microsoft.com/office/drawing/2014/main" id="{EE8FE396-64AD-0252-E22F-D45A6F6BEDDB}"/>
              </a:ext>
            </a:extLst>
          </p:cNvPr>
          <p:cNvSpPr/>
          <p:nvPr/>
        </p:nvSpPr>
        <p:spPr>
          <a:xfrm>
            <a:off x="5396006" y="3466948"/>
            <a:ext cx="792480" cy="75184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8</a:t>
            </a:r>
          </a:p>
        </p:txBody>
      </p:sp>
      <p:sp>
        <p:nvSpPr>
          <p:cNvPr id="26" name="Content Placeholder 2">
            <a:extLst>
              <a:ext uri="{FF2B5EF4-FFF2-40B4-BE49-F238E27FC236}">
                <a16:creationId xmlns:a16="http://schemas.microsoft.com/office/drawing/2014/main" id="{EF6C2272-C02B-F5A3-8CCD-C0828E3D229D}"/>
              </a:ext>
            </a:extLst>
          </p:cNvPr>
          <p:cNvSpPr txBox="1">
            <a:spLocks/>
          </p:cNvSpPr>
          <p:nvPr/>
        </p:nvSpPr>
        <p:spPr>
          <a:xfrm>
            <a:off x="6188486" y="3600222"/>
            <a:ext cx="2170630" cy="618566"/>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dirty="0"/>
              <a:t>Real-time ex</a:t>
            </a:r>
          </a:p>
        </p:txBody>
      </p:sp>
      <p:sp>
        <p:nvSpPr>
          <p:cNvPr id="27" name="Oval 26">
            <a:extLst>
              <a:ext uri="{FF2B5EF4-FFF2-40B4-BE49-F238E27FC236}">
                <a16:creationId xmlns:a16="http://schemas.microsoft.com/office/drawing/2014/main" id="{81A8C970-2FF5-F41F-FA8D-04FCC231E5CC}"/>
              </a:ext>
            </a:extLst>
          </p:cNvPr>
          <p:cNvSpPr/>
          <p:nvPr/>
        </p:nvSpPr>
        <p:spPr>
          <a:xfrm>
            <a:off x="5396006" y="4352062"/>
            <a:ext cx="792480" cy="75184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9</a:t>
            </a:r>
          </a:p>
        </p:txBody>
      </p:sp>
      <p:sp>
        <p:nvSpPr>
          <p:cNvPr id="28" name="Content Placeholder 2">
            <a:extLst>
              <a:ext uri="{FF2B5EF4-FFF2-40B4-BE49-F238E27FC236}">
                <a16:creationId xmlns:a16="http://schemas.microsoft.com/office/drawing/2014/main" id="{9165F5E8-FD19-FED2-7F76-17907302A9E3}"/>
              </a:ext>
            </a:extLst>
          </p:cNvPr>
          <p:cNvSpPr txBox="1">
            <a:spLocks/>
          </p:cNvSpPr>
          <p:nvPr/>
        </p:nvSpPr>
        <p:spPr>
          <a:xfrm>
            <a:off x="6188486" y="4485336"/>
            <a:ext cx="2170630" cy="61856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dirty="0"/>
              <a:t>Summary</a:t>
            </a:r>
          </a:p>
        </p:txBody>
      </p:sp>
      <p:sp>
        <p:nvSpPr>
          <p:cNvPr id="29" name="Oval 28">
            <a:extLst>
              <a:ext uri="{FF2B5EF4-FFF2-40B4-BE49-F238E27FC236}">
                <a16:creationId xmlns:a16="http://schemas.microsoft.com/office/drawing/2014/main" id="{38FC4138-EACC-DBDE-860E-FE9D3E84C422}"/>
              </a:ext>
            </a:extLst>
          </p:cNvPr>
          <p:cNvSpPr/>
          <p:nvPr/>
        </p:nvSpPr>
        <p:spPr>
          <a:xfrm>
            <a:off x="5396006" y="5237176"/>
            <a:ext cx="792480" cy="751840"/>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10</a:t>
            </a:r>
          </a:p>
        </p:txBody>
      </p:sp>
      <p:sp>
        <p:nvSpPr>
          <p:cNvPr id="30" name="Content Placeholder 2">
            <a:extLst>
              <a:ext uri="{FF2B5EF4-FFF2-40B4-BE49-F238E27FC236}">
                <a16:creationId xmlns:a16="http://schemas.microsoft.com/office/drawing/2014/main" id="{701C8007-0EF9-DBF6-43C5-69A29F813A4D}"/>
              </a:ext>
            </a:extLst>
          </p:cNvPr>
          <p:cNvSpPr txBox="1">
            <a:spLocks/>
          </p:cNvSpPr>
          <p:nvPr/>
        </p:nvSpPr>
        <p:spPr>
          <a:xfrm>
            <a:off x="6188486" y="5370450"/>
            <a:ext cx="2170630" cy="61856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dirty="0"/>
              <a:t>Conclusion</a:t>
            </a:r>
          </a:p>
        </p:txBody>
      </p:sp>
      <p:sp>
        <p:nvSpPr>
          <p:cNvPr id="32" name="Rectangle 31">
            <a:extLst>
              <a:ext uri="{FF2B5EF4-FFF2-40B4-BE49-F238E27FC236}">
                <a16:creationId xmlns:a16="http://schemas.microsoft.com/office/drawing/2014/main" id="{FC5EBAFB-B89B-A3BB-8372-FFD6646B8464}"/>
              </a:ext>
            </a:extLst>
          </p:cNvPr>
          <p:cNvSpPr/>
          <p:nvPr/>
        </p:nvSpPr>
        <p:spPr>
          <a:xfrm>
            <a:off x="3225376" y="1696720"/>
            <a:ext cx="2052680" cy="751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Introduction</a:t>
            </a:r>
            <a:endParaRPr lang="en-IN" sz="2800" dirty="0">
              <a:solidFill>
                <a:schemeClr val="tx1"/>
              </a:solidFill>
            </a:endParaRPr>
          </a:p>
        </p:txBody>
      </p:sp>
    </p:spTree>
    <p:extLst>
      <p:ext uri="{BB962C8B-B14F-4D97-AF65-F5344CB8AC3E}">
        <p14:creationId xmlns:p14="http://schemas.microsoft.com/office/powerpoint/2010/main" val="3929432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par>
                                <p:cTn id="8" presetID="22" presetClass="entr" presetSubtype="8" fill="hold" grpId="0" nodeType="withEffect">
                                  <p:stCondLst>
                                    <p:cond delay="0"/>
                                  </p:stCondLst>
                                  <p:iterate type="lt">
                                    <p:tmPct val="10000"/>
                                  </p:iterate>
                                  <p:childTnLst>
                                    <p:set>
                                      <p:cBhvr>
                                        <p:cTn id="9" dur="1" fill="hold">
                                          <p:stCondLst>
                                            <p:cond delay="0"/>
                                          </p:stCondLst>
                                        </p:cTn>
                                        <p:tgtEl>
                                          <p:spTgt spid="16"/>
                                        </p:tgtEl>
                                        <p:attrNameLst>
                                          <p:attrName>style.visibility</p:attrName>
                                        </p:attrNameLst>
                                      </p:cBhvr>
                                      <p:to>
                                        <p:strVal val="visible"/>
                                      </p:to>
                                    </p:set>
                                    <p:animEffect transition="in" filter="wipe(left)">
                                      <p:cBhvr>
                                        <p:cTn id="10" dur="1000"/>
                                        <p:tgtEl>
                                          <p:spTgt spid="16"/>
                                        </p:tgtEl>
                                      </p:cBhvr>
                                    </p:animEffect>
                                  </p:childTnLst>
                                </p:cTn>
                              </p:par>
                              <p:par>
                                <p:cTn id="11" presetID="22" presetClass="entr" presetSubtype="8" fill="hold" grpId="0" nodeType="withEffect">
                                  <p:stCondLst>
                                    <p:cond delay="0"/>
                                  </p:stCondLst>
                                  <p:iterate type="lt">
                                    <p:tmPct val="10000"/>
                                  </p:iterate>
                                  <p:childTnLst>
                                    <p:set>
                                      <p:cBhvr>
                                        <p:cTn id="12" dur="1" fill="hold">
                                          <p:stCondLst>
                                            <p:cond delay="0"/>
                                          </p:stCondLst>
                                        </p:cTn>
                                        <p:tgtEl>
                                          <p:spTgt spid="18"/>
                                        </p:tgtEl>
                                        <p:attrNameLst>
                                          <p:attrName>style.visibility</p:attrName>
                                        </p:attrNameLst>
                                      </p:cBhvr>
                                      <p:to>
                                        <p:strVal val="visible"/>
                                      </p:to>
                                    </p:set>
                                    <p:animEffect transition="in" filter="wipe(left)">
                                      <p:cBhvr>
                                        <p:cTn id="13" dur="1000"/>
                                        <p:tgtEl>
                                          <p:spTgt spid="18"/>
                                        </p:tgtEl>
                                      </p:cBhvr>
                                    </p:animEffect>
                                  </p:childTnLst>
                                </p:cTn>
                              </p:par>
                              <p:par>
                                <p:cTn id="14" presetID="22" presetClass="entr" presetSubtype="8" fill="hold" grpId="0" nodeType="withEffect">
                                  <p:stCondLst>
                                    <p:cond delay="0"/>
                                  </p:stCondLst>
                                  <p:iterate type="lt">
                                    <p:tmPct val="10000"/>
                                  </p:iterate>
                                  <p:childTnLst>
                                    <p:set>
                                      <p:cBhvr>
                                        <p:cTn id="15" dur="1" fill="hold">
                                          <p:stCondLst>
                                            <p:cond delay="0"/>
                                          </p:stCondLst>
                                        </p:cTn>
                                        <p:tgtEl>
                                          <p:spTgt spid="20"/>
                                        </p:tgtEl>
                                        <p:attrNameLst>
                                          <p:attrName>style.visibility</p:attrName>
                                        </p:attrNameLst>
                                      </p:cBhvr>
                                      <p:to>
                                        <p:strVal val="visible"/>
                                      </p:to>
                                    </p:set>
                                    <p:animEffect transition="in" filter="wipe(left)">
                                      <p:cBhvr>
                                        <p:cTn id="16" dur="1000"/>
                                        <p:tgtEl>
                                          <p:spTgt spid="20"/>
                                        </p:tgtEl>
                                      </p:cBhvr>
                                    </p:animEffect>
                                  </p:childTnLst>
                                </p:cTn>
                              </p:par>
                              <p:par>
                                <p:cTn id="17" presetID="22" presetClass="entr" presetSubtype="8" fill="hold" grpId="0" nodeType="withEffect">
                                  <p:stCondLst>
                                    <p:cond delay="0"/>
                                  </p:stCondLst>
                                  <p:iterate type="lt">
                                    <p:tmPct val="10000"/>
                                  </p:iterate>
                                  <p:childTnLst>
                                    <p:set>
                                      <p:cBhvr>
                                        <p:cTn id="18" dur="1" fill="hold">
                                          <p:stCondLst>
                                            <p:cond delay="0"/>
                                          </p:stCondLst>
                                        </p:cTn>
                                        <p:tgtEl>
                                          <p:spTgt spid="30"/>
                                        </p:tgtEl>
                                        <p:attrNameLst>
                                          <p:attrName>style.visibility</p:attrName>
                                        </p:attrNameLst>
                                      </p:cBhvr>
                                      <p:to>
                                        <p:strVal val="visible"/>
                                      </p:to>
                                    </p:set>
                                    <p:animEffect transition="in" filter="wipe(left)">
                                      <p:cBhvr>
                                        <p:cTn id="19" dur="1000"/>
                                        <p:tgtEl>
                                          <p:spTgt spid="30"/>
                                        </p:tgtEl>
                                      </p:cBhvr>
                                    </p:animEffect>
                                  </p:childTnLst>
                                </p:cTn>
                              </p:par>
                              <p:par>
                                <p:cTn id="20" presetID="22" presetClass="entr" presetSubtype="8" fill="hold" grpId="0" nodeType="withEffect">
                                  <p:stCondLst>
                                    <p:cond delay="0"/>
                                  </p:stCondLst>
                                  <p:iterate type="lt">
                                    <p:tmPct val="10000"/>
                                  </p:iterate>
                                  <p:childTnLst>
                                    <p:set>
                                      <p:cBhvr>
                                        <p:cTn id="21" dur="1" fill="hold">
                                          <p:stCondLst>
                                            <p:cond delay="0"/>
                                          </p:stCondLst>
                                        </p:cTn>
                                        <p:tgtEl>
                                          <p:spTgt spid="28"/>
                                        </p:tgtEl>
                                        <p:attrNameLst>
                                          <p:attrName>style.visibility</p:attrName>
                                        </p:attrNameLst>
                                      </p:cBhvr>
                                      <p:to>
                                        <p:strVal val="visible"/>
                                      </p:to>
                                    </p:set>
                                    <p:animEffect transition="in" filter="wipe(left)">
                                      <p:cBhvr>
                                        <p:cTn id="22" dur="1000"/>
                                        <p:tgtEl>
                                          <p:spTgt spid="28"/>
                                        </p:tgtEl>
                                      </p:cBhvr>
                                    </p:animEffect>
                                  </p:childTnLst>
                                </p:cTn>
                              </p:par>
                              <p:par>
                                <p:cTn id="23" presetID="22" presetClass="entr" presetSubtype="8" fill="hold" grpId="0" nodeType="withEffect">
                                  <p:stCondLst>
                                    <p:cond delay="0"/>
                                  </p:stCondLst>
                                  <p:iterate type="lt">
                                    <p:tmPct val="10000"/>
                                  </p:iterate>
                                  <p:childTnLst>
                                    <p:set>
                                      <p:cBhvr>
                                        <p:cTn id="24" dur="1" fill="hold">
                                          <p:stCondLst>
                                            <p:cond delay="0"/>
                                          </p:stCondLst>
                                        </p:cTn>
                                        <p:tgtEl>
                                          <p:spTgt spid="26"/>
                                        </p:tgtEl>
                                        <p:attrNameLst>
                                          <p:attrName>style.visibility</p:attrName>
                                        </p:attrNameLst>
                                      </p:cBhvr>
                                      <p:to>
                                        <p:strVal val="visible"/>
                                      </p:to>
                                    </p:set>
                                    <p:animEffect transition="in" filter="wipe(left)">
                                      <p:cBhvr>
                                        <p:cTn id="25" dur="1000"/>
                                        <p:tgtEl>
                                          <p:spTgt spid="26"/>
                                        </p:tgtEl>
                                      </p:cBhvr>
                                    </p:animEffect>
                                  </p:childTnLst>
                                </p:cTn>
                              </p:par>
                              <p:par>
                                <p:cTn id="26" presetID="22" presetClass="entr" presetSubtype="8" fill="hold" grpId="0" nodeType="withEffect">
                                  <p:stCondLst>
                                    <p:cond delay="0"/>
                                  </p:stCondLst>
                                  <p:iterate type="lt">
                                    <p:tmPct val="10000"/>
                                  </p:iterate>
                                  <p:childTnLst>
                                    <p:set>
                                      <p:cBhvr>
                                        <p:cTn id="27" dur="1" fill="hold">
                                          <p:stCondLst>
                                            <p:cond delay="0"/>
                                          </p:stCondLst>
                                        </p:cTn>
                                        <p:tgtEl>
                                          <p:spTgt spid="24"/>
                                        </p:tgtEl>
                                        <p:attrNameLst>
                                          <p:attrName>style.visibility</p:attrName>
                                        </p:attrNameLst>
                                      </p:cBhvr>
                                      <p:to>
                                        <p:strVal val="visible"/>
                                      </p:to>
                                    </p:set>
                                    <p:animEffect transition="in" filter="wipe(left)">
                                      <p:cBhvr>
                                        <p:cTn id="28" dur="1000"/>
                                        <p:tgtEl>
                                          <p:spTgt spid="24"/>
                                        </p:tgtEl>
                                      </p:cBhvr>
                                    </p:animEffect>
                                  </p:childTnLst>
                                </p:cTn>
                              </p:par>
                              <p:par>
                                <p:cTn id="29" presetID="22" presetClass="entr" presetSubtype="8" fill="hold" grpId="0" nodeType="withEffect">
                                  <p:stCondLst>
                                    <p:cond delay="0"/>
                                  </p:stCondLst>
                                  <p:iterate type="lt">
                                    <p:tmPct val="10000"/>
                                  </p:iterate>
                                  <p:childTnLst>
                                    <p:set>
                                      <p:cBhvr>
                                        <p:cTn id="30" dur="1" fill="hold">
                                          <p:stCondLst>
                                            <p:cond delay="0"/>
                                          </p:stCondLst>
                                        </p:cTn>
                                        <p:tgtEl>
                                          <p:spTgt spid="22"/>
                                        </p:tgtEl>
                                        <p:attrNameLst>
                                          <p:attrName>style.visibility</p:attrName>
                                        </p:attrNameLst>
                                      </p:cBhvr>
                                      <p:to>
                                        <p:strVal val="visible"/>
                                      </p:to>
                                    </p:set>
                                    <p:animEffect transition="in" filter="wipe(left)">
                                      <p:cBhvr>
                                        <p:cTn id="31" dur="1000"/>
                                        <p:tgtEl>
                                          <p:spTgt spid="22"/>
                                        </p:tgtEl>
                                      </p:cBhvr>
                                    </p:animEffect>
                                  </p:childTnLst>
                                </p:cTn>
                              </p:par>
                              <p:par>
                                <p:cTn id="32" presetID="22" presetClass="entr" presetSubtype="8" fill="hold" grpId="0" nodeType="withEffect">
                                  <p:stCondLst>
                                    <p:cond delay="0"/>
                                  </p:stCondLst>
                                  <p:iterate type="lt">
                                    <p:tmPct val="10000"/>
                                  </p:iterate>
                                  <p:childTnLst>
                                    <p:set>
                                      <p:cBhvr>
                                        <p:cTn id="33" dur="1" fill="hold">
                                          <p:stCondLst>
                                            <p:cond delay="0"/>
                                          </p:stCondLst>
                                        </p:cTn>
                                        <p:tgtEl>
                                          <p:spTgt spid="32"/>
                                        </p:tgtEl>
                                        <p:attrNameLst>
                                          <p:attrName>style.visibility</p:attrName>
                                        </p:attrNameLst>
                                      </p:cBhvr>
                                      <p:to>
                                        <p:strVal val="visible"/>
                                      </p:to>
                                    </p:set>
                                    <p:animEffect transition="in" filter="wipe(left)">
                                      <p:cBhvr>
                                        <p:cTn id="34"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P spid="20" grpId="0"/>
      <p:bldP spid="22" grpId="0"/>
      <p:bldP spid="24" grpId="0"/>
      <p:bldP spid="26" grpId="0"/>
      <p:bldP spid="28" grpId="0"/>
      <p:bldP spid="30"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81868-AD36-CE36-B5AC-5911A828323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CACE50-2224-69D5-02A1-116124F1F1A8}"/>
              </a:ext>
            </a:extLst>
          </p:cNvPr>
          <p:cNvSpPr>
            <a:spLocks noGrp="1"/>
          </p:cNvSpPr>
          <p:nvPr>
            <p:ph type="sldNum" sz="quarter" idx="12"/>
          </p:nvPr>
        </p:nvSpPr>
        <p:spPr/>
        <p:txBody>
          <a:bodyPr/>
          <a:lstStyle/>
          <a:p>
            <a:fld id="{A49DFD55-3C28-40EF-9E31-A92D2E4017FF}" type="slidenum">
              <a:rPr lang="en-US" smtClean="0"/>
              <a:pPr/>
              <a:t>3</a:t>
            </a:fld>
            <a:endParaRPr lang="en-US" dirty="0"/>
          </a:p>
        </p:txBody>
      </p:sp>
      <p:sp>
        <p:nvSpPr>
          <p:cNvPr id="10" name="Rectangle 9">
            <a:extLst>
              <a:ext uri="{FF2B5EF4-FFF2-40B4-BE49-F238E27FC236}">
                <a16:creationId xmlns:a16="http://schemas.microsoft.com/office/drawing/2014/main" id="{BFB1F7CF-1A53-E44D-0DDE-17A97BB25EB6}"/>
              </a:ext>
            </a:extLst>
          </p:cNvPr>
          <p:cNvSpPr/>
          <p:nvPr/>
        </p:nvSpPr>
        <p:spPr>
          <a:xfrm>
            <a:off x="4620202" y="226734"/>
            <a:ext cx="2951596" cy="10117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Introduction</a:t>
            </a:r>
            <a:endParaRPr lang="en-IN" sz="3200" b="1" dirty="0">
              <a:solidFill>
                <a:schemeClr val="tx1"/>
              </a:solidFill>
            </a:endParaRPr>
          </a:p>
        </p:txBody>
      </p:sp>
      <p:sp>
        <p:nvSpPr>
          <p:cNvPr id="12" name="Content Placeholder 2">
            <a:extLst>
              <a:ext uri="{FF2B5EF4-FFF2-40B4-BE49-F238E27FC236}">
                <a16:creationId xmlns:a16="http://schemas.microsoft.com/office/drawing/2014/main" id="{FCEE63B1-624A-58AE-D573-748C09DE2614}"/>
              </a:ext>
            </a:extLst>
          </p:cNvPr>
          <p:cNvSpPr txBox="1">
            <a:spLocks/>
          </p:cNvSpPr>
          <p:nvPr/>
        </p:nvSpPr>
        <p:spPr>
          <a:xfrm>
            <a:off x="652680" y="1564640"/>
            <a:ext cx="9278397" cy="456891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Sorting algorithms are essential in computer science for organizing data efficiently.</a:t>
            </a:r>
          </a:p>
          <a:p>
            <a:r>
              <a:rPr lang="en-US" b="1" dirty="0"/>
              <a:t>Quick Sort</a:t>
            </a:r>
            <a:r>
              <a:rPr lang="en-US" dirty="0"/>
              <a:t> and </a:t>
            </a:r>
            <a:r>
              <a:rPr lang="en-US" b="1" dirty="0"/>
              <a:t>Merge Sort</a:t>
            </a:r>
            <a:r>
              <a:rPr lang="en-US" dirty="0"/>
              <a:t> are two widely used </a:t>
            </a:r>
            <a:r>
              <a:rPr lang="en-US" b="1" dirty="0"/>
              <a:t>divide-and-conquer</a:t>
            </a:r>
            <a:r>
              <a:rPr lang="en-US" dirty="0"/>
              <a:t> sorting techniques.</a:t>
            </a:r>
          </a:p>
          <a:p>
            <a:r>
              <a:rPr lang="en-US" dirty="0"/>
              <a:t>Both aim to sort elements quickly, but they differ in:</a:t>
            </a:r>
          </a:p>
          <a:p>
            <a:pPr lvl="1"/>
            <a:r>
              <a:rPr lang="en-IN" dirty="0"/>
              <a:t>Approach and implementation</a:t>
            </a:r>
          </a:p>
          <a:p>
            <a:pPr lvl="1"/>
            <a:r>
              <a:rPr lang="en-IN" dirty="0"/>
              <a:t>Efficiency in various scenarios</a:t>
            </a:r>
          </a:p>
          <a:p>
            <a:pPr lvl="1"/>
            <a:r>
              <a:rPr lang="en-IN" dirty="0"/>
              <a:t>Memory usage and stability</a:t>
            </a:r>
            <a:endParaRPr lang="en-US" dirty="0"/>
          </a:p>
          <a:p>
            <a:r>
              <a:rPr lang="en-US" dirty="0"/>
              <a:t>Understanding their differences helps in choosing the right algorithm for real-world applications.</a:t>
            </a:r>
          </a:p>
        </p:txBody>
      </p:sp>
    </p:spTree>
    <p:extLst>
      <p:ext uri="{BB962C8B-B14F-4D97-AF65-F5344CB8AC3E}">
        <p14:creationId xmlns:p14="http://schemas.microsoft.com/office/powerpoint/2010/main" val="1735711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8F47A-70DF-502B-39F8-D1479EB8472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2B2098-2BC5-C912-439A-A72255A943BC}"/>
              </a:ext>
            </a:extLst>
          </p:cNvPr>
          <p:cNvSpPr>
            <a:spLocks noGrp="1"/>
          </p:cNvSpPr>
          <p:nvPr>
            <p:ph type="sldNum" sz="quarter" idx="12"/>
          </p:nvPr>
        </p:nvSpPr>
        <p:spPr/>
        <p:txBody>
          <a:bodyPr/>
          <a:lstStyle/>
          <a:p>
            <a:fld id="{A49DFD55-3C28-40EF-9E31-A92D2E4017FF}" type="slidenum">
              <a:rPr lang="en-US" smtClean="0"/>
              <a:pPr/>
              <a:t>4</a:t>
            </a:fld>
            <a:endParaRPr lang="en-US" dirty="0"/>
          </a:p>
        </p:txBody>
      </p:sp>
      <p:sp>
        <p:nvSpPr>
          <p:cNvPr id="10" name="Rectangle 9">
            <a:extLst>
              <a:ext uri="{FF2B5EF4-FFF2-40B4-BE49-F238E27FC236}">
                <a16:creationId xmlns:a16="http://schemas.microsoft.com/office/drawing/2014/main" id="{91CF6AD3-2433-9FFF-A9FF-6FB72B804A6B}"/>
              </a:ext>
            </a:extLst>
          </p:cNvPr>
          <p:cNvSpPr/>
          <p:nvPr/>
        </p:nvSpPr>
        <p:spPr>
          <a:xfrm>
            <a:off x="4620202" y="226734"/>
            <a:ext cx="2951596" cy="10117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Quick Sort</a:t>
            </a:r>
            <a:endParaRPr lang="en-IN" sz="3200" b="1" dirty="0">
              <a:solidFill>
                <a:schemeClr val="tx1"/>
              </a:solidFill>
            </a:endParaRPr>
          </a:p>
        </p:txBody>
      </p:sp>
      <p:sp>
        <p:nvSpPr>
          <p:cNvPr id="12" name="Content Placeholder 2">
            <a:extLst>
              <a:ext uri="{FF2B5EF4-FFF2-40B4-BE49-F238E27FC236}">
                <a16:creationId xmlns:a16="http://schemas.microsoft.com/office/drawing/2014/main" id="{E8BCABEE-FE64-E4AB-34CE-D020DA7B1C4B}"/>
              </a:ext>
            </a:extLst>
          </p:cNvPr>
          <p:cNvSpPr txBox="1">
            <a:spLocks/>
          </p:cNvSpPr>
          <p:nvPr/>
        </p:nvSpPr>
        <p:spPr>
          <a:xfrm>
            <a:off x="513786" y="1506762"/>
            <a:ext cx="9269255" cy="340090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Based on </a:t>
            </a:r>
            <a:r>
              <a:rPr lang="en-IN" b="1" dirty="0"/>
              <a:t>divide-and-conquer</a:t>
            </a:r>
            <a:r>
              <a:rPr lang="en-IN" dirty="0"/>
              <a:t> strategy.</a:t>
            </a:r>
          </a:p>
          <a:p>
            <a:pPr marL="0" indent="0">
              <a:buNone/>
            </a:pPr>
            <a:r>
              <a:rPr lang="en-US" dirty="0"/>
              <a:t>Selects a </a:t>
            </a:r>
            <a:r>
              <a:rPr lang="en-US" b="1" dirty="0"/>
              <a:t>pivot</a:t>
            </a:r>
            <a:r>
              <a:rPr lang="en-US" dirty="0"/>
              <a:t> element and partitions the array into:</a:t>
            </a:r>
          </a:p>
          <a:p>
            <a:r>
              <a:rPr lang="en-US" dirty="0"/>
              <a:t>Elements </a:t>
            </a:r>
            <a:r>
              <a:rPr lang="en-US" b="1" dirty="0"/>
              <a:t>less than</a:t>
            </a:r>
            <a:r>
              <a:rPr lang="en-US" dirty="0"/>
              <a:t> the pivot</a:t>
            </a:r>
          </a:p>
          <a:p>
            <a:r>
              <a:rPr lang="en-US" dirty="0"/>
              <a:t>Elements </a:t>
            </a:r>
            <a:r>
              <a:rPr lang="en-US" b="1" dirty="0"/>
              <a:t>greater than</a:t>
            </a:r>
            <a:r>
              <a:rPr lang="en-US" dirty="0"/>
              <a:t> the pivot</a:t>
            </a:r>
          </a:p>
          <a:p>
            <a:pPr marL="0" indent="0">
              <a:buNone/>
            </a:pPr>
            <a:r>
              <a:rPr lang="en-US" dirty="0"/>
              <a:t>Recursively sorts the subarrays formed after partitioning.</a:t>
            </a:r>
            <a:endParaRPr lang="en-IN" b="1" dirty="0"/>
          </a:p>
        </p:txBody>
      </p:sp>
      <p:graphicFrame>
        <p:nvGraphicFramePr>
          <p:cNvPr id="3" name="Table 2">
            <a:extLst>
              <a:ext uri="{FF2B5EF4-FFF2-40B4-BE49-F238E27FC236}">
                <a16:creationId xmlns:a16="http://schemas.microsoft.com/office/drawing/2014/main" id="{D57179C7-094F-5535-2530-CB111EA3151A}"/>
              </a:ext>
            </a:extLst>
          </p:cNvPr>
          <p:cNvGraphicFramePr>
            <a:graphicFrameLocks noGrp="1"/>
          </p:cNvGraphicFramePr>
          <p:nvPr>
            <p:extLst>
              <p:ext uri="{D42A27DB-BD31-4B8C-83A1-F6EECF244321}">
                <p14:modId xmlns:p14="http://schemas.microsoft.com/office/powerpoint/2010/main" val="4199801448"/>
              </p:ext>
            </p:extLst>
          </p:nvPr>
        </p:nvGraphicFramePr>
        <p:xfrm>
          <a:off x="1048176" y="4627885"/>
          <a:ext cx="3408078" cy="1728464"/>
        </p:xfrm>
        <a:graphic>
          <a:graphicData uri="http://schemas.openxmlformats.org/drawingml/2006/table">
            <a:tbl>
              <a:tblPr firstRow="1" bandRow="1">
                <a:tableStyleId>{5C22544A-7EE6-4342-B048-85BDC9FD1C3A}</a:tableStyleId>
              </a:tblPr>
              <a:tblGrid>
                <a:gridCol w="1704039">
                  <a:extLst>
                    <a:ext uri="{9D8B030D-6E8A-4147-A177-3AD203B41FA5}">
                      <a16:colId xmlns:a16="http://schemas.microsoft.com/office/drawing/2014/main" val="1495289396"/>
                    </a:ext>
                  </a:extLst>
                </a:gridCol>
                <a:gridCol w="1704039">
                  <a:extLst>
                    <a:ext uri="{9D8B030D-6E8A-4147-A177-3AD203B41FA5}">
                      <a16:colId xmlns:a16="http://schemas.microsoft.com/office/drawing/2014/main" val="1255895360"/>
                    </a:ext>
                  </a:extLst>
                </a:gridCol>
              </a:tblGrid>
              <a:tr h="432116">
                <a:tc gridSpan="2">
                  <a:txBody>
                    <a:bodyPr/>
                    <a:lstStyle/>
                    <a:p>
                      <a:pPr algn="ctr"/>
                      <a:r>
                        <a:rPr lang="en-US" dirty="0">
                          <a:solidFill>
                            <a:schemeClr val="tx1"/>
                          </a:solidFill>
                        </a:rPr>
                        <a:t>Time Complexity</a:t>
                      </a:r>
                      <a:endParaRPr lang="en-IN" dirty="0">
                        <a:solidFill>
                          <a:schemeClr val="tx1"/>
                        </a:solidFill>
                      </a:endParaRPr>
                    </a:p>
                  </a:txBody>
                  <a:tcPr/>
                </a:tc>
                <a:tc hMerge="1">
                  <a:txBody>
                    <a:bodyPr/>
                    <a:lstStyle/>
                    <a:p>
                      <a:endParaRPr lang="en-IN" dirty="0"/>
                    </a:p>
                  </a:txBody>
                  <a:tcPr/>
                </a:tc>
                <a:extLst>
                  <a:ext uri="{0D108BD9-81ED-4DB2-BD59-A6C34878D82A}">
                    <a16:rowId xmlns:a16="http://schemas.microsoft.com/office/drawing/2014/main" val="67798990"/>
                  </a:ext>
                </a:extLst>
              </a:tr>
              <a:tr h="432116">
                <a:tc>
                  <a:txBody>
                    <a:bodyPr/>
                    <a:lstStyle/>
                    <a:p>
                      <a:pPr algn="r"/>
                      <a:r>
                        <a:rPr lang="en-IN" dirty="0"/>
                        <a:t>Best</a:t>
                      </a:r>
                      <a:endParaRPr lang="en-IN" dirty="0">
                        <a:solidFill>
                          <a:schemeClr val="tx1"/>
                        </a:solidFill>
                      </a:endParaRPr>
                    </a:p>
                  </a:txBody>
                  <a:tcPr/>
                </a:tc>
                <a:tc>
                  <a:txBody>
                    <a:bodyPr/>
                    <a:lstStyle/>
                    <a:p>
                      <a:r>
                        <a:rPr lang="en-IN" dirty="0"/>
                        <a:t>O(n log n)</a:t>
                      </a:r>
                      <a:endParaRPr lang="en-IN" dirty="0">
                        <a:solidFill>
                          <a:schemeClr val="tx1"/>
                        </a:solidFill>
                      </a:endParaRPr>
                    </a:p>
                  </a:txBody>
                  <a:tcPr/>
                </a:tc>
                <a:extLst>
                  <a:ext uri="{0D108BD9-81ED-4DB2-BD59-A6C34878D82A}">
                    <a16:rowId xmlns:a16="http://schemas.microsoft.com/office/drawing/2014/main" val="1132389210"/>
                  </a:ext>
                </a:extLst>
              </a:tr>
              <a:tr h="432116">
                <a:tc>
                  <a:txBody>
                    <a:bodyPr/>
                    <a:lstStyle/>
                    <a:p>
                      <a:pPr algn="r"/>
                      <a:r>
                        <a:rPr lang="en-IN" dirty="0"/>
                        <a:t>Average</a:t>
                      </a:r>
                      <a:endParaRPr lang="en-IN" dirty="0">
                        <a:solidFill>
                          <a:schemeClr val="tx1"/>
                        </a:solidFill>
                      </a:endParaRPr>
                    </a:p>
                  </a:txBody>
                  <a:tcPr/>
                </a:tc>
                <a:tc>
                  <a:txBody>
                    <a:bodyPr/>
                    <a:lstStyle/>
                    <a:p>
                      <a:r>
                        <a:rPr lang="en-IN" dirty="0"/>
                        <a:t>O(n log n)</a:t>
                      </a:r>
                      <a:endParaRPr lang="en-IN" dirty="0">
                        <a:solidFill>
                          <a:schemeClr val="tx1"/>
                        </a:solidFill>
                      </a:endParaRPr>
                    </a:p>
                  </a:txBody>
                  <a:tcPr/>
                </a:tc>
                <a:extLst>
                  <a:ext uri="{0D108BD9-81ED-4DB2-BD59-A6C34878D82A}">
                    <a16:rowId xmlns:a16="http://schemas.microsoft.com/office/drawing/2014/main" val="685895666"/>
                  </a:ext>
                </a:extLst>
              </a:tr>
              <a:tr h="432116">
                <a:tc>
                  <a:txBody>
                    <a:bodyPr/>
                    <a:lstStyle/>
                    <a:p>
                      <a:pPr algn="r"/>
                      <a:r>
                        <a:rPr lang="en-IN" dirty="0"/>
                        <a:t>Worst</a:t>
                      </a:r>
                      <a:endParaRPr lang="en-IN" dirty="0">
                        <a:solidFill>
                          <a:schemeClr val="tx1"/>
                        </a:solidFill>
                      </a:endParaRPr>
                    </a:p>
                  </a:txBody>
                  <a:tcPr/>
                </a:tc>
                <a:tc>
                  <a:txBody>
                    <a:bodyPr/>
                    <a:lstStyle/>
                    <a:p>
                      <a:r>
                        <a:rPr lang="en-IN" dirty="0"/>
                        <a:t>O(n²)</a:t>
                      </a:r>
                      <a:endParaRPr lang="en-IN" dirty="0">
                        <a:solidFill>
                          <a:schemeClr val="tx1"/>
                        </a:solidFill>
                      </a:endParaRPr>
                    </a:p>
                  </a:txBody>
                  <a:tcPr/>
                </a:tc>
                <a:extLst>
                  <a:ext uri="{0D108BD9-81ED-4DB2-BD59-A6C34878D82A}">
                    <a16:rowId xmlns:a16="http://schemas.microsoft.com/office/drawing/2014/main" val="1067833573"/>
                  </a:ext>
                </a:extLst>
              </a:tr>
            </a:tbl>
          </a:graphicData>
        </a:graphic>
      </p:graphicFrame>
      <p:graphicFrame>
        <p:nvGraphicFramePr>
          <p:cNvPr id="5" name="Table 4">
            <a:extLst>
              <a:ext uri="{FF2B5EF4-FFF2-40B4-BE49-F238E27FC236}">
                <a16:creationId xmlns:a16="http://schemas.microsoft.com/office/drawing/2014/main" id="{A23DDC3E-E4EA-0BE5-AA95-9F90FE2A8BD1}"/>
              </a:ext>
            </a:extLst>
          </p:cNvPr>
          <p:cNvGraphicFramePr>
            <a:graphicFrameLocks noGrp="1"/>
          </p:cNvGraphicFramePr>
          <p:nvPr>
            <p:extLst>
              <p:ext uri="{D42A27DB-BD31-4B8C-83A1-F6EECF244321}">
                <p14:modId xmlns:p14="http://schemas.microsoft.com/office/powerpoint/2010/main" val="985818833"/>
              </p:ext>
            </p:extLst>
          </p:nvPr>
        </p:nvGraphicFramePr>
        <p:xfrm>
          <a:off x="5148412" y="4627885"/>
          <a:ext cx="3408079" cy="741680"/>
        </p:xfrm>
        <a:graphic>
          <a:graphicData uri="http://schemas.openxmlformats.org/drawingml/2006/table">
            <a:tbl>
              <a:tblPr firstRow="1" bandRow="1">
                <a:tableStyleId>{5C22544A-7EE6-4342-B048-85BDC9FD1C3A}</a:tableStyleId>
              </a:tblPr>
              <a:tblGrid>
                <a:gridCol w="3408079">
                  <a:extLst>
                    <a:ext uri="{9D8B030D-6E8A-4147-A177-3AD203B41FA5}">
                      <a16:colId xmlns:a16="http://schemas.microsoft.com/office/drawing/2014/main" val="2955005659"/>
                    </a:ext>
                  </a:extLst>
                </a:gridCol>
              </a:tblGrid>
              <a:tr h="370840">
                <a:tc>
                  <a:txBody>
                    <a:bodyPr/>
                    <a:lstStyle/>
                    <a:p>
                      <a:pPr algn="ctr"/>
                      <a:r>
                        <a:rPr lang="en-US" dirty="0">
                          <a:solidFill>
                            <a:schemeClr val="tx1"/>
                          </a:solidFill>
                        </a:rPr>
                        <a:t>Space Complexity</a:t>
                      </a:r>
                      <a:endParaRPr lang="en-IN" dirty="0">
                        <a:solidFill>
                          <a:schemeClr val="tx1"/>
                        </a:solidFill>
                      </a:endParaRPr>
                    </a:p>
                  </a:txBody>
                  <a:tcPr/>
                </a:tc>
                <a:extLst>
                  <a:ext uri="{0D108BD9-81ED-4DB2-BD59-A6C34878D82A}">
                    <a16:rowId xmlns:a16="http://schemas.microsoft.com/office/drawing/2014/main" val="168200781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i="1" dirty="0"/>
                        <a:t>O(log n)</a:t>
                      </a:r>
                      <a:r>
                        <a:rPr lang="pt-BR" dirty="0"/>
                        <a:t> (due to recursion)</a:t>
                      </a:r>
                    </a:p>
                  </a:txBody>
                  <a:tcPr/>
                </a:tc>
                <a:extLst>
                  <a:ext uri="{0D108BD9-81ED-4DB2-BD59-A6C34878D82A}">
                    <a16:rowId xmlns:a16="http://schemas.microsoft.com/office/drawing/2014/main" val="964625640"/>
                  </a:ext>
                </a:extLst>
              </a:tr>
            </a:tbl>
          </a:graphicData>
        </a:graphic>
      </p:graphicFrame>
    </p:spTree>
    <p:extLst>
      <p:ext uri="{BB962C8B-B14F-4D97-AF65-F5344CB8AC3E}">
        <p14:creationId xmlns:p14="http://schemas.microsoft.com/office/powerpoint/2010/main" val="8649815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5150492" y="291116"/>
            <a:ext cx="3391623" cy="843202"/>
          </a:xfrm>
        </p:spPr>
        <p:txBody>
          <a:bodyPr>
            <a:normAutofit/>
          </a:bodyPr>
          <a:lstStyle/>
          <a:p>
            <a:r>
              <a:rPr lang="en-US" sz="3200" b="1" dirty="0"/>
              <a:t>Merge Sort</a:t>
            </a:r>
          </a:p>
        </p:txBody>
      </p:sp>
      <p:sp>
        <p:nvSpPr>
          <p:cNvPr id="50" name="Content Placeholder 49">
            <a:extLst>
              <a:ext uri="{FF2B5EF4-FFF2-40B4-BE49-F238E27FC236}">
                <a16:creationId xmlns:a16="http://schemas.microsoft.com/office/drawing/2014/main" id="{8F6B2AE9-DDE4-FD99-A235-3B39EEE21481}"/>
              </a:ext>
            </a:extLst>
          </p:cNvPr>
          <p:cNvSpPr>
            <a:spLocks noGrp="1"/>
          </p:cNvSpPr>
          <p:nvPr>
            <p:ph sz="half" idx="14"/>
          </p:nvPr>
        </p:nvSpPr>
        <p:spPr>
          <a:xfrm>
            <a:off x="2326511" y="1504705"/>
            <a:ext cx="8403221" cy="4201611"/>
          </a:xfrm>
        </p:spPr>
        <p:txBody>
          <a:bodyPr>
            <a:normAutofit/>
          </a:bodyPr>
          <a:lstStyle/>
          <a:p>
            <a:pPr marL="457200" indent="-457200">
              <a:buFont typeface="Arial" panose="020B0604020202020204" pitchFamily="34" charset="0"/>
              <a:buChar char="•"/>
            </a:pPr>
            <a:r>
              <a:rPr lang="en-IN" sz="2400" dirty="0"/>
              <a:t>Follows </a:t>
            </a:r>
            <a:r>
              <a:rPr lang="en-IN" sz="2400" b="1" dirty="0"/>
              <a:t>divide-and-conquer</a:t>
            </a:r>
            <a:r>
              <a:rPr lang="en-IN" sz="2400" dirty="0"/>
              <a:t> methodology.</a:t>
            </a:r>
            <a:r>
              <a:rPr lang="en-US" sz="2400" dirty="0"/>
              <a:t> Recursively </a:t>
            </a:r>
            <a:r>
              <a:rPr lang="en-US" sz="2400" b="1" dirty="0"/>
              <a:t>divides</a:t>
            </a:r>
            <a:r>
              <a:rPr lang="en-US" sz="2400" dirty="0"/>
              <a:t> the array into two halves until single elements remain.</a:t>
            </a:r>
          </a:p>
          <a:p>
            <a:pPr marL="457200" indent="-457200">
              <a:buFont typeface="Arial" panose="020B0604020202020204" pitchFamily="34" charset="0"/>
              <a:buChar char="•"/>
            </a:pPr>
            <a:r>
              <a:rPr lang="en-US" sz="2400" b="1" dirty="0"/>
              <a:t>Merges</a:t>
            </a:r>
            <a:r>
              <a:rPr lang="en-US" sz="2400" dirty="0"/>
              <a:t> the divided parts in sorted order to form the final sorted array. Sorting is </a:t>
            </a:r>
            <a:r>
              <a:rPr lang="en-US" sz="2400" b="1" dirty="0"/>
              <a:t>not in-place</a:t>
            </a:r>
            <a:r>
              <a:rPr lang="en-US" sz="2400" dirty="0"/>
              <a:t> (requires additional memory).</a:t>
            </a:r>
          </a:p>
          <a:p>
            <a:pPr marL="457200" indent="-457200">
              <a:buFont typeface="Arial" panose="020B0604020202020204" pitchFamily="34" charset="0"/>
              <a:buChar char="•"/>
            </a:pPr>
            <a:r>
              <a:rPr lang="en-US" sz="2400" dirty="0"/>
              <a:t>Guarantees consistent performance regardless of input order.</a:t>
            </a:r>
            <a:endParaRPr lang="en-IN" sz="2400" dirty="0"/>
          </a:p>
          <a:p>
            <a:endParaRPr lang="en-US" sz="2400" dirty="0"/>
          </a:p>
        </p:txBody>
      </p:sp>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5</a:t>
            </a:fld>
            <a:endParaRPr lang="en-US" dirty="0"/>
          </a:p>
        </p:txBody>
      </p:sp>
      <p:graphicFrame>
        <p:nvGraphicFramePr>
          <p:cNvPr id="3" name="Table 2">
            <a:extLst>
              <a:ext uri="{FF2B5EF4-FFF2-40B4-BE49-F238E27FC236}">
                <a16:creationId xmlns:a16="http://schemas.microsoft.com/office/drawing/2014/main" id="{4473B291-2391-DCCB-E387-848FFDC7B8F7}"/>
              </a:ext>
            </a:extLst>
          </p:cNvPr>
          <p:cNvGraphicFramePr>
            <a:graphicFrameLocks noGrp="1"/>
          </p:cNvGraphicFramePr>
          <p:nvPr>
            <p:extLst>
              <p:ext uri="{D42A27DB-BD31-4B8C-83A1-F6EECF244321}">
                <p14:modId xmlns:p14="http://schemas.microsoft.com/office/powerpoint/2010/main" val="1408334265"/>
              </p:ext>
            </p:extLst>
          </p:nvPr>
        </p:nvGraphicFramePr>
        <p:xfrm>
          <a:off x="2145175" y="4838420"/>
          <a:ext cx="3408078" cy="1728464"/>
        </p:xfrm>
        <a:graphic>
          <a:graphicData uri="http://schemas.openxmlformats.org/drawingml/2006/table">
            <a:tbl>
              <a:tblPr firstRow="1" bandRow="1">
                <a:tableStyleId>{F5AB1C69-6EDB-4FF4-983F-18BD219EF322}</a:tableStyleId>
              </a:tblPr>
              <a:tblGrid>
                <a:gridCol w="1704039">
                  <a:extLst>
                    <a:ext uri="{9D8B030D-6E8A-4147-A177-3AD203B41FA5}">
                      <a16:colId xmlns:a16="http://schemas.microsoft.com/office/drawing/2014/main" val="1495289396"/>
                    </a:ext>
                  </a:extLst>
                </a:gridCol>
                <a:gridCol w="1704039">
                  <a:extLst>
                    <a:ext uri="{9D8B030D-6E8A-4147-A177-3AD203B41FA5}">
                      <a16:colId xmlns:a16="http://schemas.microsoft.com/office/drawing/2014/main" val="1255895360"/>
                    </a:ext>
                  </a:extLst>
                </a:gridCol>
              </a:tblGrid>
              <a:tr h="432116">
                <a:tc gridSpan="2">
                  <a:txBody>
                    <a:bodyPr/>
                    <a:lstStyle/>
                    <a:p>
                      <a:pPr algn="ctr"/>
                      <a:r>
                        <a:rPr lang="en-US" dirty="0">
                          <a:solidFill>
                            <a:schemeClr val="tx1"/>
                          </a:solidFill>
                        </a:rPr>
                        <a:t>Time Complexity</a:t>
                      </a:r>
                      <a:endParaRPr lang="en-IN" dirty="0">
                        <a:solidFill>
                          <a:schemeClr val="tx1"/>
                        </a:solidFill>
                      </a:endParaRPr>
                    </a:p>
                  </a:txBody>
                  <a:tcPr/>
                </a:tc>
                <a:tc hMerge="1">
                  <a:txBody>
                    <a:bodyPr/>
                    <a:lstStyle/>
                    <a:p>
                      <a:endParaRPr lang="en-IN" dirty="0"/>
                    </a:p>
                  </a:txBody>
                  <a:tcPr/>
                </a:tc>
                <a:extLst>
                  <a:ext uri="{0D108BD9-81ED-4DB2-BD59-A6C34878D82A}">
                    <a16:rowId xmlns:a16="http://schemas.microsoft.com/office/drawing/2014/main" val="67798990"/>
                  </a:ext>
                </a:extLst>
              </a:tr>
              <a:tr h="432116">
                <a:tc>
                  <a:txBody>
                    <a:bodyPr/>
                    <a:lstStyle/>
                    <a:p>
                      <a:pPr algn="r"/>
                      <a:r>
                        <a:rPr lang="en-IN" dirty="0"/>
                        <a:t>Best</a:t>
                      </a:r>
                      <a:endParaRPr lang="en-IN" dirty="0">
                        <a:solidFill>
                          <a:schemeClr val="tx1"/>
                        </a:solidFill>
                      </a:endParaRPr>
                    </a:p>
                  </a:txBody>
                  <a:tcPr/>
                </a:tc>
                <a:tc>
                  <a:txBody>
                    <a:bodyPr/>
                    <a:lstStyle/>
                    <a:p>
                      <a:r>
                        <a:rPr lang="en-IN" dirty="0"/>
                        <a:t>O(n log n)</a:t>
                      </a:r>
                      <a:endParaRPr lang="en-IN" dirty="0">
                        <a:solidFill>
                          <a:schemeClr val="tx1"/>
                        </a:solidFill>
                      </a:endParaRPr>
                    </a:p>
                  </a:txBody>
                  <a:tcPr/>
                </a:tc>
                <a:extLst>
                  <a:ext uri="{0D108BD9-81ED-4DB2-BD59-A6C34878D82A}">
                    <a16:rowId xmlns:a16="http://schemas.microsoft.com/office/drawing/2014/main" val="1132389210"/>
                  </a:ext>
                </a:extLst>
              </a:tr>
              <a:tr h="432116">
                <a:tc>
                  <a:txBody>
                    <a:bodyPr/>
                    <a:lstStyle/>
                    <a:p>
                      <a:pPr algn="r"/>
                      <a:r>
                        <a:rPr lang="en-IN" dirty="0"/>
                        <a:t>Average</a:t>
                      </a:r>
                      <a:endParaRPr lang="en-IN" dirty="0">
                        <a:solidFill>
                          <a:schemeClr val="tx1"/>
                        </a:solidFill>
                      </a:endParaRPr>
                    </a:p>
                  </a:txBody>
                  <a:tcPr/>
                </a:tc>
                <a:tc>
                  <a:txBody>
                    <a:bodyPr/>
                    <a:lstStyle/>
                    <a:p>
                      <a:r>
                        <a:rPr lang="en-IN" dirty="0"/>
                        <a:t>O(n log n)</a:t>
                      </a:r>
                      <a:endParaRPr lang="en-IN" dirty="0">
                        <a:solidFill>
                          <a:schemeClr val="tx1"/>
                        </a:solidFill>
                      </a:endParaRPr>
                    </a:p>
                  </a:txBody>
                  <a:tcPr/>
                </a:tc>
                <a:extLst>
                  <a:ext uri="{0D108BD9-81ED-4DB2-BD59-A6C34878D82A}">
                    <a16:rowId xmlns:a16="http://schemas.microsoft.com/office/drawing/2014/main" val="685895666"/>
                  </a:ext>
                </a:extLst>
              </a:tr>
              <a:tr h="432116">
                <a:tc>
                  <a:txBody>
                    <a:bodyPr/>
                    <a:lstStyle/>
                    <a:p>
                      <a:pPr algn="r"/>
                      <a:r>
                        <a:rPr lang="en-IN" dirty="0"/>
                        <a:t>Worst</a:t>
                      </a:r>
                      <a:endParaRPr lang="en-IN" dirty="0">
                        <a:solidFill>
                          <a:schemeClr val="tx1"/>
                        </a:solidFill>
                      </a:endParaRPr>
                    </a:p>
                  </a:txBody>
                  <a:tcPr/>
                </a:tc>
                <a:tc>
                  <a:txBody>
                    <a:bodyPr/>
                    <a:lstStyle/>
                    <a:p>
                      <a:r>
                        <a:rPr lang="en-IN" dirty="0"/>
                        <a:t>O(n²)</a:t>
                      </a:r>
                      <a:endParaRPr lang="en-IN" dirty="0">
                        <a:solidFill>
                          <a:schemeClr val="tx1"/>
                        </a:solidFill>
                      </a:endParaRPr>
                    </a:p>
                  </a:txBody>
                  <a:tcPr/>
                </a:tc>
                <a:extLst>
                  <a:ext uri="{0D108BD9-81ED-4DB2-BD59-A6C34878D82A}">
                    <a16:rowId xmlns:a16="http://schemas.microsoft.com/office/drawing/2014/main" val="1067833573"/>
                  </a:ext>
                </a:extLst>
              </a:tr>
            </a:tbl>
          </a:graphicData>
        </a:graphic>
      </p:graphicFrame>
      <p:graphicFrame>
        <p:nvGraphicFramePr>
          <p:cNvPr id="4" name="Table 3">
            <a:extLst>
              <a:ext uri="{FF2B5EF4-FFF2-40B4-BE49-F238E27FC236}">
                <a16:creationId xmlns:a16="http://schemas.microsoft.com/office/drawing/2014/main" id="{078A90A3-AE04-1ED2-02FB-940DB293BBF3}"/>
              </a:ext>
            </a:extLst>
          </p:cNvPr>
          <p:cNvGraphicFramePr>
            <a:graphicFrameLocks noGrp="1"/>
          </p:cNvGraphicFramePr>
          <p:nvPr>
            <p:extLst>
              <p:ext uri="{D42A27DB-BD31-4B8C-83A1-F6EECF244321}">
                <p14:modId xmlns:p14="http://schemas.microsoft.com/office/powerpoint/2010/main" val="3528029247"/>
              </p:ext>
            </p:extLst>
          </p:nvPr>
        </p:nvGraphicFramePr>
        <p:xfrm>
          <a:off x="6245411" y="4838420"/>
          <a:ext cx="3408079" cy="741680"/>
        </p:xfrm>
        <a:graphic>
          <a:graphicData uri="http://schemas.openxmlformats.org/drawingml/2006/table">
            <a:tbl>
              <a:tblPr firstRow="1" bandRow="1">
                <a:tableStyleId>{F5AB1C69-6EDB-4FF4-983F-18BD219EF322}</a:tableStyleId>
              </a:tblPr>
              <a:tblGrid>
                <a:gridCol w="3408079">
                  <a:extLst>
                    <a:ext uri="{9D8B030D-6E8A-4147-A177-3AD203B41FA5}">
                      <a16:colId xmlns:a16="http://schemas.microsoft.com/office/drawing/2014/main" val="2955005659"/>
                    </a:ext>
                  </a:extLst>
                </a:gridCol>
              </a:tblGrid>
              <a:tr h="370840">
                <a:tc>
                  <a:txBody>
                    <a:bodyPr/>
                    <a:lstStyle/>
                    <a:p>
                      <a:pPr algn="ctr"/>
                      <a:r>
                        <a:rPr lang="en-US" dirty="0">
                          <a:solidFill>
                            <a:schemeClr val="tx1"/>
                          </a:solidFill>
                        </a:rPr>
                        <a:t>Space Complexity</a:t>
                      </a:r>
                      <a:endParaRPr lang="en-IN" dirty="0">
                        <a:solidFill>
                          <a:schemeClr val="tx1"/>
                        </a:solidFill>
                      </a:endParaRPr>
                    </a:p>
                  </a:txBody>
                  <a:tcPr/>
                </a:tc>
                <a:extLst>
                  <a:ext uri="{0D108BD9-81ED-4DB2-BD59-A6C34878D82A}">
                    <a16:rowId xmlns:a16="http://schemas.microsoft.com/office/drawing/2014/main" val="168200781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dirty="0"/>
                        <a:t>O(log n) (due to recursion)</a:t>
                      </a:r>
                    </a:p>
                  </a:txBody>
                  <a:tcPr/>
                </a:tc>
                <a:extLst>
                  <a:ext uri="{0D108BD9-81ED-4DB2-BD59-A6C34878D82A}">
                    <a16:rowId xmlns:a16="http://schemas.microsoft.com/office/drawing/2014/main" val="964625640"/>
                  </a:ext>
                </a:extLst>
              </a:tr>
            </a:tbl>
          </a:graphicData>
        </a:graphic>
      </p:graphicFrame>
    </p:spTree>
    <p:extLst>
      <p:ext uri="{BB962C8B-B14F-4D97-AF65-F5344CB8AC3E}">
        <p14:creationId xmlns:p14="http://schemas.microsoft.com/office/powerpoint/2010/main" val="1034587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0">
                                            <p:txEl>
                                              <p:pRg st="0" end="0"/>
                                            </p:txEl>
                                          </p:spTgt>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50">
                                            <p:txEl>
                                              <p:pRg st="1" end="1"/>
                                            </p:txEl>
                                          </p:spTgt>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50">
                                            <p:txEl>
                                              <p:pRg st="2" end="2"/>
                                            </p:txEl>
                                          </p:spTgt>
                                        </p:tgtEl>
                                        <p:attrNameLst>
                                          <p:attrName>style.visibility</p:attrName>
                                        </p:attrNameLst>
                                      </p:cBhvr>
                                      <p:to>
                                        <p:strVal val="visible"/>
                                      </p:to>
                                    </p:se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par>
                                <p:cTn id="21" presetID="10"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0"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310973" y="451413"/>
            <a:ext cx="5302749" cy="591884"/>
          </a:xfrm>
        </p:spPr>
        <p:txBody>
          <a:bodyPr>
            <a:normAutofit fontScale="90000"/>
          </a:bodyPr>
          <a:lstStyle/>
          <a:p>
            <a:r>
              <a:rPr lang="en-IN" b="1" dirty="0"/>
              <a:t>  </a:t>
            </a:r>
            <a:r>
              <a:rPr lang="en-IN" b="1" dirty="0" err="1"/>
              <a:t>Erfomance</a:t>
            </a:r>
            <a:r>
              <a:rPr lang="en-IN" b="1" dirty="0"/>
              <a:t> </a:t>
            </a:r>
            <a:r>
              <a:rPr lang="en-IN" b="1" dirty="0" err="1"/>
              <a:t>Comparsion</a:t>
            </a:r>
            <a:endParaRPr lang="en-US" b="1" dirty="0"/>
          </a:p>
        </p:txBody>
      </p:sp>
      <p:sp>
        <p:nvSpPr>
          <p:cNvPr id="68" name="Slide Number Placeholder 67">
            <a:extLst>
              <a:ext uri="{FF2B5EF4-FFF2-40B4-BE49-F238E27FC236}">
                <a16:creationId xmlns:a16="http://schemas.microsoft.com/office/drawing/2014/main" id="{AA0ACADD-CC4E-851C-DA07-C22DB97FA23E}"/>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6</a:t>
            </a:fld>
            <a:endParaRPr lang="en-US" dirty="0"/>
          </a:p>
        </p:txBody>
      </p:sp>
      <p:sp>
        <p:nvSpPr>
          <p:cNvPr id="9" name="Title 1">
            <a:extLst>
              <a:ext uri="{FF2B5EF4-FFF2-40B4-BE49-F238E27FC236}">
                <a16:creationId xmlns:a16="http://schemas.microsoft.com/office/drawing/2014/main" id="{C7C99F90-7714-A7FB-A263-DF0EEF1D497F}"/>
              </a:ext>
            </a:extLst>
          </p:cNvPr>
          <p:cNvSpPr txBox="1">
            <a:spLocks/>
          </p:cNvSpPr>
          <p:nvPr/>
        </p:nvSpPr>
        <p:spPr>
          <a:xfrm>
            <a:off x="310973" y="450625"/>
            <a:ext cx="4990232" cy="59188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US" b="1" dirty="0"/>
              <a:t>P</a:t>
            </a:r>
            <a:endParaRPr lang="en-IN" b="1" dirty="0"/>
          </a:p>
        </p:txBody>
      </p:sp>
      <p:graphicFrame>
        <p:nvGraphicFramePr>
          <p:cNvPr id="5" name="Content Placeholder 4">
            <a:extLst>
              <a:ext uri="{FF2B5EF4-FFF2-40B4-BE49-F238E27FC236}">
                <a16:creationId xmlns:a16="http://schemas.microsoft.com/office/drawing/2014/main" id="{8CC4A09D-8E91-D536-1EE1-4EE83BCCE646}"/>
              </a:ext>
            </a:extLst>
          </p:cNvPr>
          <p:cNvGraphicFramePr>
            <a:graphicFrameLocks noGrp="1"/>
          </p:cNvGraphicFramePr>
          <p:nvPr>
            <p:ph sz="half" idx="15"/>
            <p:extLst>
              <p:ext uri="{D42A27DB-BD31-4B8C-83A1-F6EECF244321}">
                <p14:modId xmlns:p14="http://schemas.microsoft.com/office/powerpoint/2010/main" val="2143655095"/>
              </p:ext>
            </p:extLst>
          </p:nvPr>
        </p:nvGraphicFramePr>
        <p:xfrm>
          <a:off x="462987" y="1203767"/>
          <a:ext cx="10897914" cy="5335925"/>
        </p:xfrm>
        <a:graphic>
          <a:graphicData uri="http://schemas.openxmlformats.org/drawingml/2006/table">
            <a:tbl>
              <a:tblPr firstRow="1" bandRow="1">
                <a:tableStyleId>{073A0DAA-6AF3-43AB-8588-CEC1D06C72B9}</a:tableStyleId>
              </a:tblPr>
              <a:tblGrid>
                <a:gridCol w="3632638">
                  <a:extLst>
                    <a:ext uri="{9D8B030D-6E8A-4147-A177-3AD203B41FA5}">
                      <a16:colId xmlns:a16="http://schemas.microsoft.com/office/drawing/2014/main" val="4008846040"/>
                    </a:ext>
                  </a:extLst>
                </a:gridCol>
                <a:gridCol w="3632638">
                  <a:extLst>
                    <a:ext uri="{9D8B030D-6E8A-4147-A177-3AD203B41FA5}">
                      <a16:colId xmlns:a16="http://schemas.microsoft.com/office/drawing/2014/main" val="1127024554"/>
                    </a:ext>
                  </a:extLst>
                </a:gridCol>
                <a:gridCol w="3632638">
                  <a:extLst>
                    <a:ext uri="{9D8B030D-6E8A-4147-A177-3AD203B41FA5}">
                      <a16:colId xmlns:a16="http://schemas.microsoft.com/office/drawing/2014/main" val="3440010305"/>
                    </a:ext>
                  </a:extLst>
                </a:gridCol>
              </a:tblGrid>
              <a:tr h="762275">
                <a:tc>
                  <a:txBody>
                    <a:bodyPr/>
                    <a:lstStyle/>
                    <a:p>
                      <a:pPr algn="ctr"/>
                      <a:r>
                        <a:rPr lang="en-IN" dirty="0"/>
                        <a:t>Feature</a:t>
                      </a:r>
                    </a:p>
                  </a:txBody>
                  <a:tcPr/>
                </a:tc>
                <a:tc>
                  <a:txBody>
                    <a:bodyPr/>
                    <a:lstStyle/>
                    <a:p>
                      <a:pPr algn="ctr"/>
                      <a:r>
                        <a:rPr lang="en-US" dirty="0"/>
                        <a:t>Quick Sort</a:t>
                      </a:r>
                      <a:endParaRPr lang="en-IN" dirty="0"/>
                    </a:p>
                  </a:txBody>
                  <a:tcPr/>
                </a:tc>
                <a:tc>
                  <a:txBody>
                    <a:bodyPr/>
                    <a:lstStyle/>
                    <a:p>
                      <a:pPr algn="ctr"/>
                      <a:r>
                        <a:rPr lang="en-US" dirty="0"/>
                        <a:t>Merge Sort</a:t>
                      </a:r>
                      <a:endParaRPr lang="en-IN" dirty="0"/>
                    </a:p>
                  </a:txBody>
                  <a:tcPr/>
                </a:tc>
                <a:extLst>
                  <a:ext uri="{0D108BD9-81ED-4DB2-BD59-A6C34878D82A}">
                    <a16:rowId xmlns:a16="http://schemas.microsoft.com/office/drawing/2014/main" val="3788841576"/>
                  </a:ext>
                </a:extLst>
              </a:tr>
              <a:tr h="762275">
                <a:tc>
                  <a:txBody>
                    <a:bodyPr/>
                    <a:lstStyle/>
                    <a:p>
                      <a:r>
                        <a:rPr lang="en-IN" dirty="0"/>
                        <a:t>Average Time Complexity</a:t>
                      </a:r>
                    </a:p>
                  </a:txBody>
                  <a:tcPr/>
                </a:tc>
                <a:tc>
                  <a:txBody>
                    <a:bodyPr/>
                    <a:lstStyle/>
                    <a:p>
                      <a:r>
                        <a:rPr lang="en-IN" dirty="0"/>
                        <a:t>O(n log n)</a:t>
                      </a:r>
                    </a:p>
                  </a:txBody>
                  <a:tcPr/>
                </a:tc>
                <a:tc>
                  <a:txBody>
                    <a:bodyPr/>
                    <a:lstStyle/>
                    <a:p>
                      <a:r>
                        <a:rPr lang="en-IN" dirty="0"/>
                        <a:t>O(n log n)</a:t>
                      </a:r>
                    </a:p>
                  </a:txBody>
                  <a:tcPr/>
                </a:tc>
                <a:extLst>
                  <a:ext uri="{0D108BD9-81ED-4DB2-BD59-A6C34878D82A}">
                    <a16:rowId xmlns:a16="http://schemas.microsoft.com/office/drawing/2014/main" val="61973217"/>
                  </a:ext>
                </a:extLst>
              </a:tr>
              <a:tr h="762275">
                <a:tc>
                  <a:txBody>
                    <a:bodyPr/>
                    <a:lstStyle/>
                    <a:p>
                      <a:r>
                        <a:rPr lang="en-IN" dirty="0"/>
                        <a:t>Worst Case Time Complexity</a:t>
                      </a:r>
                    </a:p>
                  </a:txBody>
                  <a:tcPr/>
                </a:tc>
                <a:tc>
                  <a:txBody>
                    <a:bodyPr/>
                    <a:lstStyle/>
                    <a:p>
                      <a:r>
                        <a:rPr lang="en-IN" dirty="0"/>
                        <a:t>O(n²) (poor pivot selection)</a:t>
                      </a:r>
                    </a:p>
                  </a:txBody>
                  <a:tcPr/>
                </a:tc>
                <a:tc>
                  <a:txBody>
                    <a:bodyPr/>
                    <a:lstStyle/>
                    <a:p>
                      <a:r>
                        <a:rPr lang="en-IN" dirty="0"/>
                        <a:t>O(n log n)</a:t>
                      </a:r>
                    </a:p>
                  </a:txBody>
                  <a:tcPr/>
                </a:tc>
                <a:extLst>
                  <a:ext uri="{0D108BD9-81ED-4DB2-BD59-A6C34878D82A}">
                    <a16:rowId xmlns:a16="http://schemas.microsoft.com/office/drawing/2014/main" val="2880109248"/>
                  </a:ext>
                </a:extLst>
              </a:tr>
              <a:tr h="762275">
                <a:tc>
                  <a:txBody>
                    <a:bodyPr/>
                    <a:lstStyle/>
                    <a:p>
                      <a:r>
                        <a:rPr lang="en-IN" dirty="0"/>
                        <a:t>Space Complexity</a:t>
                      </a:r>
                    </a:p>
                  </a:txBody>
                  <a:tcPr/>
                </a:tc>
                <a:tc>
                  <a:txBody>
                    <a:bodyPr/>
                    <a:lstStyle/>
                    <a:p>
                      <a:r>
                        <a:rPr lang="en-IN" dirty="0"/>
                        <a:t>O(log n) (in-place)</a:t>
                      </a:r>
                    </a:p>
                  </a:txBody>
                  <a:tcPr/>
                </a:tc>
                <a:tc>
                  <a:txBody>
                    <a:bodyPr/>
                    <a:lstStyle/>
                    <a:p>
                      <a:r>
                        <a:rPr lang="en-IN" dirty="0"/>
                        <a:t>O(n) (extra memory)</a:t>
                      </a:r>
                    </a:p>
                  </a:txBody>
                  <a:tcPr/>
                </a:tc>
                <a:extLst>
                  <a:ext uri="{0D108BD9-81ED-4DB2-BD59-A6C34878D82A}">
                    <a16:rowId xmlns:a16="http://schemas.microsoft.com/office/drawing/2014/main" val="3237835123"/>
                  </a:ext>
                </a:extLst>
              </a:tr>
              <a:tr h="762275">
                <a:tc>
                  <a:txBody>
                    <a:bodyPr/>
                    <a:lstStyle/>
                    <a:p>
                      <a:r>
                        <a:rPr lang="en-IN" dirty="0"/>
                        <a:t>Stability</a:t>
                      </a:r>
                    </a:p>
                  </a:txBody>
                  <a:tcPr/>
                </a:tc>
                <a:tc>
                  <a:txBody>
                    <a:bodyPr/>
                    <a:lstStyle/>
                    <a:p>
                      <a:r>
                        <a:rPr lang="en-IN" dirty="0"/>
                        <a:t>Not stable by default</a:t>
                      </a:r>
                    </a:p>
                  </a:txBody>
                  <a:tcPr/>
                </a:tc>
                <a:tc>
                  <a:txBody>
                    <a:bodyPr/>
                    <a:lstStyle/>
                    <a:p>
                      <a:r>
                        <a:rPr lang="en-IN" dirty="0"/>
                        <a:t>Stable</a:t>
                      </a:r>
                    </a:p>
                  </a:txBody>
                  <a:tcPr/>
                </a:tc>
                <a:extLst>
                  <a:ext uri="{0D108BD9-81ED-4DB2-BD59-A6C34878D82A}">
                    <a16:rowId xmlns:a16="http://schemas.microsoft.com/office/drawing/2014/main" val="4142223256"/>
                  </a:ext>
                </a:extLst>
              </a:tr>
              <a:tr h="762275">
                <a:tc>
                  <a:txBody>
                    <a:bodyPr/>
                    <a:lstStyle/>
                    <a:p>
                      <a:r>
                        <a:rPr lang="en-IN" dirty="0"/>
                        <a:t>Practical Performance</a:t>
                      </a:r>
                    </a:p>
                  </a:txBody>
                  <a:tcPr/>
                </a:tc>
                <a:tc>
                  <a:txBody>
                    <a:bodyPr/>
                    <a:lstStyle/>
                    <a:p>
                      <a:r>
                        <a:rPr lang="en-US" dirty="0"/>
                        <a:t>Faster in real-world cases due to better cache utilization</a:t>
                      </a:r>
                      <a:endParaRPr lang="en-IN" dirty="0"/>
                    </a:p>
                  </a:txBody>
                  <a:tcPr/>
                </a:tc>
                <a:tc>
                  <a:txBody>
                    <a:bodyPr/>
                    <a:lstStyle/>
                    <a:p>
                      <a:r>
                        <a:rPr lang="en-US" dirty="0"/>
                        <a:t>Predictable performance, useful for large datasets</a:t>
                      </a:r>
                      <a:endParaRPr lang="en-IN" dirty="0"/>
                    </a:p>
                  </a:txBody>
                  <a:tcPr/>
                </a:tc>
                <a:extLst>
                  <a:ext uri="{0D108BD9-81ED-4DB2-BD59-A6C34878D82A}">
                    <a16:rowId xmlns:a16="http://schemas.microsoft.com/office/drawing/2014/main" val="3847758275"/>
                  </a:ext>
                </a:extLst>
              </a:tr>
              <a:tr h="762275">
                <a:tc>
                  <a:txBody>
                    <a:bodyPr/>
                    <a:lstStyle/>
                    <a:p>
                      <a:r>
                        <a:rPr lang="en-IN" dirty="0"/>
                        <a:t>Suitability</a:t>
                      </a:r>
                    </a:p>
                  </a:txBody>
                  <a:tcPr/>
                </a:tc>
                <a:tc>
                  <a:txBody>
                    <a:bodyPr/>
                    <a:lstStyle/>
                    <a:p>
                      <a:r>
                        <a:rPr lang="en-US" dirty="0"/>
                        <a:t>Best for arrays and when memory is limited</a:t>
                      </a:r>
                      <a:endParaRPr lang="en-IN" dirty="0"/>
                    </a:p>
                  </a:txBody>
                  <a:tcPr/>
                </a:tc>
                <a:tc>
                  <a:txBody>
                    <a:bodyPr/>
                    <a:lstStyle/>
                    <a:p>
                      <a:r>
                        <a:rPr lang="en-US" dirty="0"/>
                        <a:t>Best for linked lists or when stable sort is required</a:t>
                      </a:r>
                      <a:endParaRPr lang="en-IN" dirty="0"/>
                    </a:p>
                  </a:txBody>
                  <a:tcPr/>
                </a:tc>
                <a:extLst>
                  <a:ext uri="{0D108BD9-81ED-4DB2-BD59-A6C34878D82A}">
                    <a16:rowId xmlns:a16="http://schemas.microsoft.com/office/drawing/2014/main" val="3741306460"/>
                  </a:ext>
                </a:extLst>
              </a:tr>
            </a:tbl>
          </a:graphicData>
        </a:graphic>
      </p:graphicFrame>
    </p:spTree>
    <p:extLst>
      <p:ext uri="{BB962C8B-B14F-4D97-AF65-F5344CB8AC3E}">
        <p14:creationId xmlns:p14="http://schemas.microsoft.com/office/powerpoint/2010/main" val="63692980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Scale>
                                      <p:cBhvr>
                                        <p:cTn id="7" dur="10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9"/>
                                        </p:tgtEl>
                                        <p:attrNameLst>
                                          <p:attrName>ppt_x</p:attrName>
                                          <p:attrName>ppt_y</p:attrName>
                                        </p:attrNameLst>
                                      </p:cBhvr>
                                    </p:animMotion>
                                    <p:animEffect transition="in" filter="fade">
                                      <p:cBhvr>
                                        <p:cTn id="9" dur="1000"/>
                                        <p:tgtEl>
                                          <p:spTgt spid="9"/>
                                        </p:tgtEl>
                                      </p:cBhvr>
                                    </p:animEffect>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1500"/>
                            </p:stCondLst>
                            <p:childTnLst>
                              <p:par>
                                <p:cTn id="15" presetID="10" presetClass="entr" presetSubtype="0"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DBD1-DB29-D44F-FD5A-3071BB37EF37}"/>
              </a:ext>
            </a:extLst>
          </p:cNvPr>
          <p:cNvSpPr>
            <a:spLocks noGrp="1"/>
          </p:cNvSpPr>
          <p:nvPr>
            <p:ph type="ctrTitle"/>
          </p:nvPr>
        </p:nvSpPr>
        <p:spPr>
          <a:xfrm>
            <a:off x="6977062" y="2700338"/>
            <a:ext cx="5555607" cy="1180241"/>
          </a:xfrm>
        </p:spPr>
        <p:txBody>
          <a:bodyPr/>
          <a:lstStyle/>
          <a:p>
            <a:r>
              <a:rPr lang="en-IN" b="1" dirty="0" err="1"/>
              <a:t>COde</a:t>
            </a:r>
            <a:r>
              <a:rPr lang="en-IN" b="1" dirty="0"/>
              <a:t> implementation</a:t>
            </a:r>
            <a:endParaRPr lang="en-US" b="1" dirty="0"/>
          </a:p>
        </p:txBody>
      </p:sp>
      <p:sp>
        <p:nvSpPr>
          <p:cNvPr id="3" name="Title 1">
            <a:extLst>
              <a:ext uri="{FF2B5EF4-FFF2-40B4-BE49-F238E27FC236}">
                <a16:creationId xmlns:a16="http://schemas.microsoft.com/office/drawing/2014/main" id="{B350C160-6ED1-F932-8567-E6B15988F8FC}"/>
              </a:ext>
            </a:extLst>
          </p:cNvPr>
          <p:cNvSpPr txBox="1">
            <a:spLocks/>
          </p:cNvSpPr>
          <p:nvPr/>
        </p:nvSpPr>
        <p:spPr>
          <a:xfrm>
            <a:off x="6690408" y="3146742"/>
            <a:ext cx="3877278" cy="71605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kern="1200" cap="all" spc="150" baseline="0">
                <a:solidFill>
                  <a:schemeClr val="tx1"/>
                </a:solidFill>
                <a:latin typeface="+mj-lt"/>
                <a:ea typeface="+mj-ea"/>
                <a:cs typeface="+mj-cs"/>
              </a:defRPr>
            </a:lvl1pPr>
          </a:lstStyle>
          <a:p>
            <a:endParaRPr lang="en-US" b="1" dirty="0"/>
          </a:p>
        </p:txBody>
      </p:sp>
    </p:spTree>
    <p:extLst>
      <p:ext uri="{BB962C8B-B14F-4D97-AF65-F5344CB8AC3E}">
        <p14:creationId xmlns:p14="http://schemas.microsoft.com/office/powerpoint/2010/main" val="6087961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withEffect" nodePh="1">
                                  <p:stCondLst>
                                    <p:cond delay="0"/>
                                  </p:stCondLst>
                                  <p:endCondLst>
                                    <p:cond evt="begin" delay="0">
                                      <p:tn val="5"/>
                                    </p:cond>
                                  </p:endCondLst>
                                  <p:iterate type="lt">
                                    <p:tmPct val="10000"/>
                                  </p:iterate>
                                  <p:childTnLst>
                                    <p:set>
                                      <p:cBhvr>
                                        <p:cTn id="6" dur="1" fill="hold">
                                          <p:stCondLst>
                                            <p:cond delay="0"/>
                                          </p:stCondLst>
                                        </p:cTn>
                                        <p:tgtEl>
                                          <p:spTgt spid="3"/>
                                        </p:tgtEl>
                                        <p:attrNameLst>
                                          <p:attrName>style.visibility</p:attrName>
                                        </p:attrNameLst>
                                      </p:cBhvr>
                                      <p:to>
                                        <p:strVal val="visible"/>
                                      </p:to>
                                    </p:set>
                                    <p:anim by="(-#ppt_w*2)" calcmode="lin" valueType="num">
                                      <p:cBhvr rctx="PPT">
                                        <p:cTn id="7" dur="500" autoRev="1" fill="hold">
                                          <p:stCondLst>
                                            <p:cond delay="0"/>
                                          </p:stCondLst>
                                        </p:cTn>
                                        <p:tgtEl>
                                          <p:spTgt spid="3"/>
                                        </p:tgtEl>
                                        <p:attrNameLst>
                                          <p:attrName>ppt_w</p:attrName>
                                        </p:attrNameLst>
                                      </p:cBhvr>
                                    </p:anim>
                                    <p:anim by="(#ppt_w*0.50)" calcmode="lin" valueType="num">
                                      <p:cBhvr>
                                        <p:cTn id="8" dur="500" decel="50000" autoRev="1" fill="hold">
                                          <p:stCondLst>
                                            <p:cond delay="0"/>
                                          </p:stCondLst>
                                        </p:cTn>
                                        <p:tgtEl>
                                          <p:spTgt spid="3"/>
                                        </p:tgtEl>
                                        <p:attrNameLst>
                                          <p:attrName>ppt_x</p:attrName>
                                        </p:attrNameLst>
                                      </p:cBhvr>
                                    </p:anim>
                                    <p:anim from="(-#ppt_h/2)" to="(#ppt_y)" calcmode="lin" valueType="num">
                                      <p:cBhvr>
                                        <p:cTn id="9" dur="1000" fill="hold">
                                          <p:stCondLst>
                                            <p:cond delay="0"/>
                                          </p:stCondLst>
                                        </p:cTn>
                                        <p:tgtEl>
                                          <p:spTgt spid="3"/>
                                        </p:tgtEl>
                                        <p:attrNameLst>
                                          <p:attrName>ppt_y</p:attrName>
                                        </p:attrNameLst>
                                      </p:cBhvr>
                                    </p:anim>
                                    <p:animRot by="21600000">
                                      <p:cBhvr>
                                        <p:cTn id="10" dur="1000" fill="hold">
                                          <p:stCondLst>
                                            <p:cond delay="0"/>
                                          </p:stCondLst>
                                        </p:cTn>
                                        <p:tgtEl>
                                          <p:spTgt spid="3"/>
                                        </p:tgtEl>
                                        <p:attrNameLst>
                                          <p:attrName>r</p:attrName>
                                        </p:attrNameLst>
                                      </p:cBhvr>
                                    </p:animRo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74B0ADB-527F-A58C-9372-D8502ED6F918}"/>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8</a:t>
            </a:fld>
            <a:endParaRPr lang="en-US" dirty="0"/>
          </a:p>
        </p:txBody>
      </p:sp>
      <p:sp>
        <p:nvSpPr>
          <p:cNvPr id="10" name="Title 1">
            <a:extLst>
              <a:ext uri="{FF2B5EF4-FFF2-40B4-BE49-F238E27FC236}">
                <a16:creationId xmlns:a16="http://schemas.microsoft.com/office/drawing/2014/main" id="{35AC8AF1-CAB9-0093-C9AF-FD70EFB29D95}"/>
              </a:ext>
            </a:extLst>
          </p:cNvPr>
          <p:cNvSpPr>
            <a:spLocks noGrp="1"/>
          </p:cNvSpPr>
          <p:nvPr>
            <p:ph type="title"/>
          </p:nvPr>
        </p:nvSpPr>
        <p:spPr>
          <a:xfrm>
            <a:off x="7336270" y="915359"/>
            <a:ext cx="2937578" cy="843202"/>
          </a:xfrm>
        </p:spPr>
        <p:txBody>
          <a:bodyPr>
            <a:normAutofit fontScale="90000"/>
          </a:bodyPr>
          <a:lstStyle/>
          <a:p>
            <a:r>
              <a:rPr lang="en-US" sz="3200" b="1" dirty="0"/>
              <a:t>Merge Sort</a:t>
            </a:r>
          </a:p>
        </p:txBody>
      </p:sp>
      <p:sp>
        <p:nvSpPr>
          <p:cNvPr id="11" name="Title 1">
            <a:extLst>
              <a:ext uri="{FF2B5EF4-FFF2-40B4-BE49-F238E27FC236}">
                <a16:creationId xmlns:a16="http://schemas.microsoft.com/office/drawing/2014/main" id="{51C2C34D-AE96-AA98-D106-7615CF1DD5D2}"/>
              </a:ext>
            </a:extLst>
          </p:cNvPr>
          <p:cNvSpPr txBox="1">
            <a:spLocks/>
          </p:cNvSpPr>
          <p:nvPr/>
        </p:nvSpPr>
        <p:spPr>
          <a:xfrm>
            <a:off x="1962989" y="915359"/>
            <a:ext cx="2937578" cy="8432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2400" kern="1200" cap="all" spc="150" baseline="0" dirty="0">
                <a:solidFill>
                  <a:schemeClr val="tx1"/>
                </a:solidFill>
                <a:latin typeface="+mj-lt"/>
                <a:ea typeface="+mj-ea"/>
                <a:cs typeface="+mj-cs"/>
              </a:defRPr>
            </a:lvl1pPr>
          </a:lstStyle>
          <a:p>
            <a:r>
              <a:rPr lang="en-IN" sz="3200" b="1" dirty="0"/>
              <a:t>Quick Sort</a:t>
            </a:r>
          </a:p>
        </p:txBody>
      </p:sp>
      <p:sp>
        <p:nvSpPr>
          <p:cNvPr id="12" name="Content Placeholder 2">
            <a:extLst>
              <a:ext uri="{FF2B5EF4-FFF2-40B4-BE49-F238E27FC236}">
                <a16:creationId xmlns:a16="http://schemas.microsoft.com/office/drawing/2014/main" id="{F3D4B66D-7278-9837-D3B6-83F56D398DFD}"/>
              </a:ext>
            </a:extLst>
          </p:cNvPr>
          <p:cNvSpPr txBox="1">
            <a:spLocks/>
          </p:cNvSpPr>
          <p:nvPr/>
        </p:nvSpPr>
        <p:spPr>
          <a:xfrm>
            <a:off x="349375" y="1965229"/>
            <a:ext cx="5447176" cy="4633608"/>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Quick Sort works by choosing a pivot element and arranging the array so that elements smaller than the pivot come before it and larger elements come after it. Then the algorithm recursively repeats the process on the left and right subarrays until the entire array becomes sorted. The sorting happens within the same array by swapping elements when needed.</a:t>
            </a:r>
            <a:endParaRPr lang="en-IN" b="1" dirty="0"/>
          </a:p>
        </p:txBody>
      </p:sp>
      <p:sp>
        <p:nvSpPr>
          <p:cNvPr id="13" name="Content Placeholder 2">
            <a:extLst>
              <a:ext uri="{FF2B5EF4-FFF2-40B4-BE49-F238E27FC236}">
                <a16:creationId xmlns:a16="http://schemas.microsoft.com/office/drawing/2014/main" id="{762819B7-0742-CD70-ED8B-50426468C7A0}"/>
              </a:ext>
            </a:extLst>
          </p:cNvPr>
          <p:cNvSpPr txBox="1">
            <a:spLocks/>
          </p:cNvSpPr>
          <p:nvPr/>
        </p:nvSpPr>
        <p:spPr>
          <a:xfrm>
            <a:off x="6395449" y="1965229"/>
            <a:ext cx="5447176" cy="463360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Merge Sort works by dividing the array into two halves again and again until each part contains a single element. Then, it merges these small sorted parts back together in order, forming a fully sorted array. It uses temporary arrays during merging to ensure the elements are placed correctly.</a:t>
            </a:r>
            <a:endParaRPr lang="en-IN" b="1" dirty="0"/>
          </a:p>
        </p:txBody>
      </p:sp>
    </p:spTree>
    <p:extLst>
      <p:ext uri="{BB962C8B-B14F-4D97-AF65-F5344CB8AC3E}">
        <p14:creationId xmlns:p14="http://schemas.microsoft.com/office/powerpoint/2010/main" val="16581646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B2686-DA80-CFEF-B252-F9DE78E12B6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DEFED05-43DE-6A09-B435-CDE98E7F8873}"/>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9</a:t>
            </a:fld>
            <a:endParaRPr lang="en-US" dirty="0"/>
          </a:p>
        </p:txBody>
      </p:sp>
      <p:sp>
        <p:nvSpPr>
          <p:cNvPr id="11" name="Title 1">
            <a:extLst>
              <a:ext uri="{FF2B5EF4-FFF2-40B4-BE49-F238E27FC236}">
                <a16:creationId xmlns:a16="http://schemas.microsoft.com/office/drawing/2014/main" id="{9604E4ED-2962-C9AA-7231-135995C87FAA}"/>
              </a:ext>
            </a:extLst>
          </p:cNvPr>
          <p:cNvSpPr txBox="1">
            <a:spLocks/>
          </p:cNvSpPr>
          <p:nvPr/>
        </p:nvSpPr>
        <p:spPr>
          <a:xfrm>
            <a:off x="1962988" y="5743963"/>
            <a:ext cx="2937578" cy="8432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2400" kern="1200" cap="all" spc="150" baseline="0" dirty="0">
                <a:solidFill>
                  <a:schemeClr val="tx1"/>
                </a:solidFill>
                <a:latin typeface="+mj-lt"/>
                <a:ea typeface="+mj-ea"/>
                <a:cs typeface="+mj-cs"/>
              </a:defRPr>
            </a:lvl1pPr>
          </a:lstStyle>
          <a:p>
            <a:r>
              <a:rPr lang="en-IN" sz="3200" b="1" dirty="0"/>
              <a:t>Quick Sort</a:t>
            </a:r>
          </a:p>
        </p:txBody>
      </p:sp>
      <p:sp>
        <p:nvSpPr>
          <p:cNvPr id="2" name="Title 1"/>
          <p:cNvSpPr>
            <a:spLocks noGrp="1"/>
          </p:cNvSpPr>
          <p:nvPr>
            <p:ph type="title"/>
          </p:nvPr>
        </p:nvSpPr>
        <p:spPr>
          <a:xfrm>
            <a:off x="6286500" y="5701728"/>
            <a:ext cx="5672137" cy="939711"/>
          </a:xfrm>
        </p:spPr>
        <p:txBody>
          <a:bodyPr>
            <a:noAutofit/>
          </a:bodyPr>
          <a:lstStyle/>
          <a:p>
            <a:pPr algn="ctr"/>
            <a:r>
              <a:rPr lang="en-US" sz="3200" b="1" dirty="0"/>
              <a:t>QUICK SORT FUNCTION</a:t>
            </a:r>
            <a:endParaRPr lang="en-IN" sz="3200" b="1"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9461" y="1504696"/>
            <a:ext cx="4324631" cy="3981704"/>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3580" y="1504696"/>
            <a:ext cx="4357975" cy="3981704"/>
          </a:xfrm>
          <a:prstGeom prst="rect">
            <a:avLst/>
          </a:prstGeom>
        </p:spPr>
      </p:pic>
    </p:spTree>
    <p:extLst>
      <p:ext uri="{BB962C8B-B14F-4D97-AF65-F5344CB8AC3E}">
        <p14:creationId xmlns:p14="http://schemas.microsoft.com/office/powerpoint/2010/main" val="22204824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00764" y="5330585"/>
            <a:ext cx="5624512" cy="1025764"/>
          </a:xfrm>
        </p:spPr>
        <p:txBody>
          <a:bodyPr>
            <a:normAutofit/>
          </a:bodyPr>
          <a:lstStyle/>
          <a:p>
            <a:r>
              <a:rPr lang="en-US" sz="2900" b="1" dirty="0"/>
              <a:t>MERGE SORT FUNCTION</a:t>
            </a:r>
            <a:endParaRPr lang="en-IN" sz="2900" b="1" dirty="0"/>
          </a:p>
        </p:txBody>
      </p:sp>
      <p:pic>
        <p:nvPicPr>
          <p:cNvPr id="8" name="Table Placeholder 7"/>
          <p:cNvPicPr>
            <a:picLocks noGrp="1" noChangeAspect="1"/>
          </p:cNvPicPr>
          <p:nvPr>
            <p:ph type="tbl" sz="quarter" idx="14"/>
          </p:nvPr>
        </p:nvPicPr>
        <p:blipFill>
          <a:blip r:embed="rId2">
            <a:extLst>
              <a:ext uri="{28A0092B-C50C-407E-A947-70E740481C1C}">
                <a14:useLocalDpi xmlns:a14="http://schemas.microsoft.com/office/drawing/2010/main" val="0"/>
              </a:ext>
            </a:extLst>
          </a:blip>
          <a:stretch>
            <a:fillRect/>
          </a:stretch>
        </p:blipFill>
        <p:spPr>
          <a:xfrm>
            <a:off x="6286501" y="1391524"/>
            <a:ext cx="4672012" cy="3849527"/>
          </a:xfrm>
        </p:spPr>
      </p:pic>
      <p:sp>
        <p:nvSpPr>
          <p:cNvPr id="5" name="Slide Number Placeholder 4"/>
          <p:cNvSpPr>
            <a:spLocks noGrp="1"/>
          </p:cNvSpPr>
          <p:nvPr>
            <p:ph type="sldNum" sz="quarter" idx="12"/>
          </p:nvPr>
        </p:nvSpPr>
        <p:spPr/>
        <p:txBody>
          <a:bodyPr/>
          <a:lstStyle/>
          <a:p>
            <a:fld id="{A49DFD55-3C28-40EF-9E31-A92D2E4017FF}" type="slidenum">
              <a:rPr lang="en-US" smtClean="0"/>
              <a:pPr/>
              <a:t>10</a:t>
            </a:fld>
            <a:endParaRPr lang="en-US" dirty="0"/>
          </a:p>
        </p:txBody>
      </p:sp>
      <p:sp>
        <p:nvSpPr>
          <p:cNvPr id="7" name="Title 1">
            <a:extLst>
              <a:ext uri="{FF2B5EF4-FFF2-40B4-BE49-F238E27FC236}">
                <a16:creationId xmlns:a16="http://schemas.microsoft.com/office/drawing/2014/main" id="{4E50E016-13AF-108E-E9CC-C81A8ADAD41B}"/>
              </a:ext>
            </a:extLst>
          </p:cNvPr>
          <p:cNvSpPr txBox="1">
            <a:spLocks/>
          </p:cNvSpPr>
          <p:nvPr/>
        </p:nvSpPr>
        <p:spPr>
          <a:xfrm>
            <a:off x="1588555" y="5513147"/>
            <a:ext cx="2937578" cy="843202"/>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lang="en-US" sz="2400" kern="1200" cap="all" spc="150" baseline="0" dirty="0">
                <a:solidFill>
                  <a:schemeClr val="tx1"/>
                </a:solidFill>
                <a:latin typeface="+mj-lt"/>
                <a:ea typeface="+mj-ea"/>
                <a:cs typeface="+mj-cs"/>
              </a:defRPr>
            </a:lvl1pPr>
          </a:lstStyle>
          <a:p>
            <a:r>
              <a:rPr lang="en-IN" sz="3200" b="1" dirty="0"/>
              <a:t>Merge Sort</a:t>
            </a:r>
          </a:p>
        </p:txBody>
      </p:sp>
      <p:pic>
        <p:nvPicPr>
          <p:cNvPr id="10" name="Content Placeholder 9"/>
          <p:cNvPicPr>
            <a:picLocks noGrp="1" noChangeAspect="1"/>
          </p:cNvPicPr>
          <p:nvPr>
            <p:ph sz="half" idx="16"/>
          </p:nvPr>
        </p:nvPicPr>
        <p:blipFill>
          <a:blip r:embed="rId3">
            <a:extLst>
              <a:ext uri="{28A0092B-C50C-407E-A947-70E740481C1C}">
                <a14:useLocalDpi xmlns:a14="http://schemas.microsoft.com/office/drawing/2010/main" val="0"/>
              </a:ext>
            </a:extLst>
          </a:blip>
          <a:stretch>
            <a:fillRect/>
          </a:stretch>
        </p:blipFill>
        <p:spPr>
          <a:xfrm>
            <a:off x="1028700" y="1391524"/>
            <a:ext cx="4443413" cy="3849527"/>
          </a:xfrm>
        </p:spPr>
      </p:pic>
    </p:spTree>
    <p:extLst>
      <p:ext uri="{BB962C8B-B14F-4D97-AF65-F5344CB8AC3E}">
        <p14:creationId xmlns:p14="http://schemas.microsoft.com/office/powerpoint/2010/main" val="1770255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7838868" y="390140"/>
            <a:ext cx="3330705" cy="757507"/>
          </a:xfrm>
        </p:spPr>
        <p:txBody>
          <a:bodyPr/>
          <a:lstStyle/>
          <a:p>
            <a:r>
              <a:rPr lang="en-US" b="1" dirty="0"/>
              <a:t>OBSERVATIONS</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11</a:t>
            </a:fld>
            <a:endParaRPr lang="en-US" dirty="0"/>
          </a:p>
        </p:txBody>
      </p:sp>
      <p:sp>
        <p:nvSpPr>
          <p:cNvPr id="4" name="Title 1">
            <a:extLst>
              <a:ext uri="{FF2B5EF4-FFF2-40B4-BE49-F238E27FC236}">
                <a16:creationId xmlns:a16="http://schemas.microsoft.com/office/drawing/2014/main" id="{A01FF3A3-9958-2FF1-A37D-F3032A792514}"/>
              </a:ext>
            </a:extLst>
          </p:cNvPr>
          <p:cNvSpPr txBox="1">
            <a:spLocks/>
          </p:cNvSpPr>
          <p:nvPr/>
        </p:nvSpPr>
        <p:spPr>
          <a:xfrm>
            <a:off x="7607368" y="390139"/>
            <a:ext cx="3330705" cy="75750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US" b="1" dirty="0"/>
              <a:t>              </a:t>
            </a:r>
            <a:endParaRPr lang="en-IN" b="1" dirty="0"/>
          </a:p>
        </p:txBody>
      </p:sp>
      <p:graphicFrame>
        <p:nvGraphicFramePr>
          <p:cNvPr id="7" name="Content Placeholder 4">
            <a:extLst>
              <a:ext uri="{FF2B5EF4-FFF2-40B4-BE49-F238E27FC236}">
                <a16:creationId xmlns:a16="http://schemas.microsoft.com/office/drawing/2014/main" id="{D59F67B5-ECCF-A7D6-1776-EDC917A2D19F}"/>
              </a:ext>
            </a:extLst>
          </p:cNvPr>
          <p:cNvGraphicFramePr>
            <a:graphicFrameLocks/>
          </p:cNvGraphicFramePr>
          <p:nvPr>
            <p:extLst>
              <p:ext uri="{D42A27DB-BD31-4B8C-83A1-F6EECF244321}">
                <p14:modId xmlns:p14="http://schemas.microsoft.com/office/powerpoint/2010/main" val="839282670"/>
              </p:ext>
            </p:extLst>
          </p:nvPr>
        </p:nvGraphicFramePr>
        <p:xfrm>
          <a:off x="462987" y="1481559"/>
          <a:ext cx="10370916" cy="4874786"/>
        </p:xfrm>
        <a:graphic>
          <a:graphicData uri="http://schemas.openxmlformats.org/drawingml/2006/table">
            <a:tbl>
              <a:tblPr firstRow="1" bandRow="1">
                <a:tableStyleId>{073A0DAA-6AF3-43AB-8588-CEC1D06C72B9}</a:tableStyleId>
              </a:tblPr>
              <a:tblGrid>
                <a:gridCol w="3456972">
                  <a:extLst>
                    <a:ext uri="{9D8B030D-6E8A-4147-A177-3AD203B41FA5}">
                      <a16:colId xmlns:a16="http://schemas.microsoft.com/office/drawing/2014/main" val="4008846040"/>
                    </a:ext>
                  </a:extLst>
                </a:gridCol>
                <a:gridCol w="3456972">
                  <a:extLst>
                    <a:ext uri="{9D8B030D-6E8A-4147-A177-3AD203B41FA5}">
                      <a16:colId xmlns:a16="http://schemas.microsoft.com/office/drawing/2014/main" val="1127024554"/>
                    </a:ext>
                  </a:extLst>
                </a:gridCol>
                <a:gridCol w="3456972">
                  <a:extLst>
                    <a:ext uri="{9D8B030D-6E8A-4147-A177-3AD203B41FA5}">
                      <a16:colId xmlns:a16="http://schemas.microsoft.com/office/drawing/2014/main" val="3440010305"/>
                    </a:ext>
                  </a:extLst>
                </a:gridCol>
              </a:tblGrid>
              <a:tr h="696398">
                <a:tc>
                  <a:txBody>
                    <a:bodyPr/>
                    <a:lstStyle/>
                    <a:p>
                      <a:pPr algn="ctr"/>
                      <a:r>
                        <a:rPr lang="en-US" dirty="0"/>
                        <a:t>U</a:t>
                      </a:r>
                      <a:r>
                        <a:rPr lang="en-IN" dirty="0"/>
                        <a:t>sorted array</a:t>
                      </a:r>
                    </a:p>
                  </a:txBody>
                  <a:tcPr/>
                </a:tc>
                <a:tc>
                  <a:txBody>
                    <a:bodyPr/>
                    <a:lstStyle/>
                    <a:p>
                      <a:pPr algn="ctr"/>
                      <a:r>
                        <a:rPr lang="en-US" dirty="0"/>
                        <a:t>Quick Sort(S)</a:t>
                      </a:r>
                      <a:endParaRPr lang="en-IN" dirty="0"/>
                    </a:p>
                  </a:txBody>
                  <a:tcPr/>
                </a:tc>
                <a:tc>
                  <a:txBody>
                    <a:bodyPr/>
                    <a:lstStyle/>
                    <a:p>
                      <a:pPr algn="ctr"/>
                      <a:r>
                        <a:rPr lang="en-US" dirty="0"/>
                        <a:t>Merge Sort(S)</a:t>
                      </a:r>
                      <a:endParaRPr lang="en-IN" dirty="0"/>
                    </a:p>
                  </a:txBody>
                  <a:tcPr/>
                </a:tc>
                <a:extLst>
                  <a:ext uri="{0D108BD9-81ED-4DB2-BD59-A6C34878D82A}">
                    <a16:rowId xmlns:a16="http://schemas.microsoft.com/office/drawing/2014/main" val="3788841576"/>
                  </a:ext>
                </a:extLst>
              </a:tr>
              <a:tr h="696398">
                <a:tc>
                  <a:txBody>
                    <a:bodyPr/>
                    <a:lstStyle/>
                    <a:p>
                      <a:r>
                        <a:rPr lang="en-IN" dirty="0"/>
                        <a:t>[1, 2, 3, 4, 5, 6, 7, 8, 9, 10]</a:t>
                      </a:r>
                    </a:p>
                  </a:txBody>
                  <a:tcPr/>
                </a:tc>
                <a:tc>
                  <a:txBody>
                    <a:bodyPr/>
                    <a:lstStyle/>
                    <a:p>
                      <a:r>
                        <a:rPr lang="en-IN" dirty="0"/>
                        <a:t>0.000019</a:t>
                      </a:r>
                    </a:p>
                  </a:txBody>
                  <a:tcPr/>
                </a:tc>
                <a:tc>
                  <a:txBody>
                    <a:bodyPr/>
                    <a:lstStyle/>
                    <a:p>
                      <a:r>
                        <a:rPr lang="en-IN" dirty="0"/>
                        <a:t>0.000019</a:t>
                      </a:r>
                    </a:p>
                  </a:txBody>
                  <a:tcPr/>
                </a:tc>
                <a:extLst>
                  <a:ext uri="{0D108BD9-81ED-4DB2-BD59-A6C34878D82A}">
                    <a16:rowId xmlns:a16="http://schemas.microsoft.com/office/drawing/2014/main" val="61973217"/>
                  </a:ext>
                </a:extLst>
              </a:tr>
              <a:tr h="696398">
                <a:tc>
                  <a:txBody>
                    <a:bodyPr/>
                    <a:lstStyle/>
                    <a:p>
                      <a:r>
                        <a:rPr lang="en-IN" dirty="0"/>
                        <a:t>[7, 7, 7, 7, 7, 7, 7]</a:t>
                      </a:r>
                    </a:p>
                  </a:txBody>
                  <a:tcPr/>
                </a:tc>
                <a:tc>
                  <a:txBody>
                    <a:bodyPr/>
                    <a:lstStyle/>
                    <a:p>
                      <a:r>
                        <a:rPr lang="en-IN" dirty="0"/>
                        <a:t>0.000003</a:t>
                      </a:r>
                    </a:p>
                  </a:txBody>
                  <a:tcPr/>
                </a:tc>
                <a:tc>
                  <a:txBody>
                    <a:bodyPr/>
                    <a:lstStyle/>
                    <a:p>
                      <a:r>
                        <a:rPr lang="en-IN" dirty="0"/>
                        <a:t>0.000006</a:t>
                      </a:r>
                    </a:p>
                  </a:txBody>
                  <a:tcPr/>
                </a:tc>
                <a:extLst>
                  <a:ext uri="{0D108BD9-81ED-4DB2-BD59-A6C34878D82A}">
                    <a16:rowId xmlns:a16="http://schemas.microsoft.com/office/drawing/2014/main" val="2880109248"/>
                  </a:ext>
                </a:extLst>
              </a:tr>
              <a:tr h="696398">
                <a:tc>
                  <a:txBody>
                    <a:bodyPr/>
                    <a:lstStyle/>
                    <a:p>
                      <a:r>
                        <a:rPr lang="en-IN" dirty="0"/>
                        <a:t>[3, 1, 2, 1, 5, 1, 4, 1]</a:t>
                      </a:r>
                    </a:p>
                  </a:txBody>
                  <a:tcPr/>
                </a:tc>
                <a:tc>
                  <a:txBody>
                    <a:bodyPr/>
                    <a:lstStyle/>
                    <a:p>
                      <a:r>
                        <a:rPr lang="en-IN" dirty="0"/>
                        <a:t>0.000007</a:t>
                      </a:r>
                    </a:p>
                  </a:txBody>
                  <a:tcPr/>
                </a:tc>
                <a:tc>
                  <a:txBody>
                    <a:bodyPr/>
                    <a:lstStyle/>
                    <a:p>
                      <a:r>
                        <a:rPr lang="en-IN" dirty="0"/>
                        <a:t>0.000008</a:t>
                      </a:r>
                    </a:p>
                  </a:txBody>
                  <a:tcPr/>
                </a:tc>
                <a:extLst>
                  <a:ext uri="{0D108BD9-81ED-4DB2-BD59-A6C34878D82A}">
                    <a16:rowId xmlns:a16="http://schemas.microsoft.com/office/drawing/2014/main" val="3237835123"/>
                  </a:ext>
                </a:extLst>
              </a:tr>
              <a:tr h="696398">
                <a:tc>
                  <a:txBody>
                    <a:bodyPr/>
                    <a:lstStyle/>
                    <a:p>
                      <a:r>
                        <a:rPr lang="en-IN" dirty="0"/>
                        <a:t>[9, 1, 8, 2, 7, 3, 6, 4, 5]</a:t>
                      </a:r>
                    </a:p>
                  </a:txBody>
                  <a:tcPr/>
                </a:tc>
                <a:tc>
                  <a:txBody>
                    <a:bodyPr/>
                    <a:lstStyle/>
                    <a:p>
                      <a:r>
                        <a:rPr lang="en-IN" dirty="0"/>
                        <a:t>0.000010</a:t>
                      </a:r>
                    </a:p>
                  </a:txBody>
                  <a:tcPr/>
                </a:tc>
                <a:tc>
                  <a:txBody>
                    <a:bodyPr/>
                    <a:lstStyle/>
                    <a:p>
                      <a:r>
                        <a:rPr lang="en-IN" dirty="0"/>
                        <a:t>0.000009</a:t>
                      </a:r>
                    </a:p>
                  </a:txBody>
                  <a:tcPr/>
                </a:tc>
                <a:extLst>
                  <a:ext uri="{0D108BD9-81ED-4DB2-BD59-A6C34878D82A}">
                    <a16:rowId xmlns:a16="http://schemas.microsoft.com/office/drawing/2014/main" val="4142223256"/>
                  </a:ext>
                </a:extLst>
              </a:tr>
              <a:tr h="696398">
                <a:tc>
                  <a:txBody>
                    <a:bodyPr/>
                    <a:lstStyle/>
                    <a:p>
                      <a:r>
                        <a:rPr lang="en-IN" dirty="0"/>
                        <a:t>[100, 50, 20, 40, 90, 10, 70, 30, 60, 80]</a:t>
                      </a:r>
                    </a:p>
                  </a:txBody>
                  <a:tcPr/>
                </a:tc>
                <a:tc>
                  <a:txBody>
                    <a:bodyPr/>
                    <a:lstStyle/>
                    <a:p>
                      <a:r>
                        <a:rPr lang="en-IN" dirty="0"/>
                        <a:t>0.000011</a:t>
                      </a:r>
                    </a:p>
                  </a:txBody>
                  <a:tcPr/>
                </a:tc>
                <a:tc>
                  <a:txBody>
                    <a:bodyPr/>
                    <a:lstStyle/>
                    <a:p>
                      <a:r>
                        <a:rPr lang="en-IN" dirty="0"/>
                        <a:t>0.000010</a:t>
                      </a:r>
                    </a:p>
                  </a:txBody>
                  <a:tcPr/>
                </a:tc>
                <a:extLst>
                  <a:ext uri="{0D108BD9-81ED-4DB2-BD59-A6C34878D82A}">
                    <a16:rowId xmlns:a16="http://schemas.microsoft.com/office/drawing/2014/main" val="3847758275"/>
                  </a:ext>
                </a:extLst>
              </a:tr>
              <a:tr h="696398">
                <a:tc>
                  <a:txBody>
                    <a:bodyPr/>
                    <a:lstStyle/>
                    <a:p>
                      <a:r>
                        <a:rPr lang="en-IN" dirty="0"/>
                        <a:t>[2, 1, 4, 3, 6, 5, 8, 7, 10, 9]</a:t>
                      </a:r>
                    </a:p>
                  </a:txBody>
                  <a:tcPr/>
                </a:tc>
                <a:tc>
                  <a:txBody>
                    <a:bodyPr/>
                    <a:lstStyle/>
                    <a:p>
                      <a:r>
                        <a:rPr lang="en-IN" dirty="0"/>
                        <a:t>0.000011</a:t>
                      </a:r>
                    </a:p>
                  </a:txBody>
                  <a:tcPr/>
                </a:tc>
                <a:tc>
                  <a:txBody>
                    <a:bodyPr/>
                    <a:lstStyle/>
                    <a:p>
                      <a:r>
                        <a:rPr lang="en-IN" dirty="0"/>
                        <a:t>0.000009</a:t>
                      </a:r>
                    </a:p>
                  </a:txBody>
                  <a:tcPr/>
                </a:tc>
                <a:extLst>
                  <a:ext uri="{0D108BD9-81ED-4DB2-BD59-A6C34878D82A}">
                    <a16:rowId xmlns:a16="http://schemas.microsoft.com/office/drawing/2014/main" val="3741306460"/>
                  </a:ext>
                </a:extLst>
              </a:tr>
            </a:tbl>
          </a:graphicData>
        </a:graphic>
      </p:graphicFrame>
    </p:spTree>
    <p:extLst>
      <p:ext uri="{BB962C8B-B14F-4D97-AF65-F5344CB8AC3E}">
        <p14:creationId xmlns:p14="http://schemas.microsoft.com/office/powerpoint/2010/main" val="3571516367"/>
      </p:ext>
    </p:extLst>
  </p:cSld>
  <p:clrMapOvr>
    <a:masterClrMapping/>
  </p:clrMapOvr>
  <p:transition spd="slow">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250" fill="hold"/>
                                        <p:tgtEl>
                                          <p:spTgt spid="4"/>
                                        </p:tgtEl>
                                        <p:attrNameLst>
                                          <p:attrName>ppt_w</p:attrName>
                                        </p:attrNameLst>
                                      </p:cBhvr>
                                      <p:tavLst>
                                        <p:tav tm="0" fmla="#ppt_w*sin(2.5*pi*$)">
                                          <p:val>
                                            <p:fltVal val="0"/>
                                          </p:val>
                                        </p:tav>
                                        <p:tav tm="100000">
                                          <p:val>
                                            <p:fltVal val="1"/>
                                          </p:val>
                                        </p:tav>
                                      </p:tavLst>
                                    </p:anim>
                                    <p:anim calcmode="lin" valueType="num">
                                      <p:cBhvr>
                                        <p:cTn id="8" dur="1250" fill="hold"/>
                                        <p:tgtEl>
                                          <p:spTgt spid="4"/>
                                        </p:tgtEl>
                                        <p:attrNameLst>
                                          <p:attrName>ppt_h</p:attrName>
                                        </p:attrNameLst>
                                      </p:cBhvr>
                                      <p:tavLst>
                                        <p:tav tm="0">
                                          <p:val>
                                            <p:strVal val="#ppt_h"/>
                                          </p:val>
                                        </p:tav>
                                        <p:tav tm="100000">
                                          <p:val>
                                            <p:strVal val="#ppt_h"/>
                                          </p:val>
                                        </p:tav>
                                      </p:tavLst>
                                    </p:anim>
                                  </p:childTnLst>
                                </p:cTn>
                              </p:par>
                            </p:childTnLst>
                          </p:cTn>
                        </p:par>
                        <p:par>
                          <p:cTn id="9" fill="hold">
                            <p:stCondLst>
                              <p:cond delay="1250"/>
                            </p:stCondLst>
                            <p:childTnLst>
                              <p:par>
                                <p:cTn id="10" presetID="22" presetClass="entr" presetSubtype="8"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750"/>
                            </p:stCondLst>
                            <p:childTnLst>
                              <p:par>
                                <p:cTn id="14" presetID="10"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963EF-7A54-A143-6CE9-372504AA1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E63DA-4FAE-46E1-D214-E4810368B9AE}"/>
              </a:ext>
            </a:extLst>
          </p:cNvPr>
          <p:cNvSpPr>
            <a:spLocks noGrp="1"/>
          </p:cNvSpPr>
          <p:nvPr>
            <p:ph type="title"/>
          </p:nvPr>
        </p:nvSpPr>
        <p:spPr>
          <a:xfrm>
            <a:off x="7838868" y="390140"/>
            <a:ext cx="3330705" cy="757507"/>
          </a:xfrm>
        </p:spPr>
        <p:txBody>
          <a:bodyPr/>
          <a:lstStyle/>
          <a:p>
            <a:r>
              <a:rPr lang="en-US" b="1" dirty="0"/>
              <a:t>OBSERVATIONS</a:t>
            </a:r>
          </a:p>
        </p:txBody>
      </p:sp>
      <p:sp>
        <p:nvSpPr>
          <p:cNvPr id="14" name="Slide Number Placeholder 5">
            <a:extLst>
              <a:ext uri="{FF2B5EF4-FFF2-40B4-BE49-F238E27FC236}">
                <a16:creationId xmlns:a16="http://schemas.microsoft.com/office/drawing/2014/main" id="{C083DDFE-D698-460A-1CA7-16639508E139}"/>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12</a:t>
            </a:fld>
            <a:endParaRPr lang="en-US" dirty="0"/>
          </a:p>
        </p:txBody>
      </p:sp>
      <p:graphicFrame>
        <p:nvGraphicFramePr>
          <p:cNvPr id="13" name="Chart 12">
            <a:extLst>
              <a:ext uri="{FF2B5EF4-FFF2-40B4-BE49-F238E27FC236}">
                <a16:creationId xmlns:a16="http://schemas.microsoft.com/office/drawing/2014/main" id="{3A559540-4F00-D4FF-DAEA-9192EBA109CD}"/>
              </a:ext>
            </a:extLst>
          </p:cNvPr>
          <p:cNvGraphicFramePr/>
          <p:nvPr>
            <p:extLst>
              <p:ext uri="{D42A27DB-BD31-4B8C-83A1-F6EECF244321}">
                <p14:modId xmlns:p14="http://schemas.microsoft.com/office/powerpoint/2010/main" val="3273534202"/>
              </p:ext>
            </p:extLst>
          </p:nvPr>
        </p:nvGraphicFramePr>
        <p:xfrm>
          <a:off x="1001854" y="1187333"/>
          <a:ext cx="8128000" cy="5418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80416778"/>
      </p:ext>
    </p:extLst>
  </p:cSld>
  <p:clrMapOvr>
    <a:masterClrMapping/>
  </p:clrMapOvr>
  <p:transition spd="slow">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DBD7D-BCAC-3302-885C-D24EF1B2F459}"/>
              </a:ext>
            </a:extLst>
          </p:cNvPr>
          <p:cNvSpPr>
            <a:spLocks noGrp="1"/>
          </p:cNvSpPr>
          <p:nvPr>
            <p:ph type="ctrTitle"/>
          </p:nvPr>
        </p:nvSpPr>
        <p:spPr>
          <a:xfrm>
            <a:off x="7986774" y="3108233"/>
            <a:ext cx="2291546" cy="669759"/>
          </a:xfrm>
        </p:spPr>
        <p:txBody>
          <a:bodyPr/>
          <a:lstStyle/>
          <a:p>
            <a:r>
              <a:rPr lang="en-US" dirty="0" err="1"/>
              <a:t>nalysis</a:t>
            </a:r>
            <a:endParaRPr lang="en-IN" dirty="0"/>
          </a:p>
        </p:txBody>
      </p:sp>
      <p:sp>
        <p:nvSpPr>
          <p:cNvPr id="3" name="Title 1">
            <a:extLst>
              <a:ext uri="{FF2B5EF4-FFF2-40B4-BE49-F238E27FC236}">
                <a16:creationId xmlns:a16="http://schemas.microsoft.com/office/drawing/2014/main" id="{5C892346-1877-FC4A-A87B-7ED82F7BBEC1}"/>
              </a:ext>
            </a:extLst>
          </p:cNvPr>
          <p:cNvSpPr txBox="1">
            <a:spLocks/>
          </p:cNvSpPr>
          <p:nvPr/>
        </p:nvSpPr>
        <p:spPr>
          <a:xfrm>
            <a:off x="7662803" y="3025282"/>
            <a:ext cx="647941" cy="75271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kern="1200" cap="all" spc="150" baseline="0">
                <a:solidFill>
                  <a:schemeClr val="bg1"/>
                </a:solidFill>
                <a:latin typeface="+mj-lt"/>
                <a:ea typeface="+mj-ea"/>
                <a:cs typeface="+mj-cs"/>
              </a:defRPr>
            </a:lvl1pPr>
          </a:lstStyle>
          <a:p>
            <a:r>
              <a:rPr lang="en-US" dirty="0"/>
              <a:t>A</a:t>
            </a:r>
            <a:endParaRPr lang="en-IN" dirty="0"/>
          </a:p>
        </p:txBody>
      </p:sp>
    </p:spTree>
    <p:extLst>
      <p:ext uri="{BB962C8B-B14F-4D97-AF65-F5344CB8AC3E}">
        <p14:creationId xmlns:p14="http://schemas.microsoft.com/office/powerpoint/2010/main" val="318418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9140014-73D5-419B-8867-972BB18D52D4}"/>
              </a:ext>
            </a:extLst>
          </p:cNvPr>
          <p:cNvSpPr>
            <a:spLocks noGrp="1"/>
          </p:cNvSpPr>
          <p:nvPr>
            <p:ph type="title"/>
          </p:nvPr>
        </p:nvSpPr>
        <p:spPr>
          <a:xfrm>
            <a:off x="838200" y="337192"/>
            <a:ext cx="5655197" cy="1997867"/>
          </a:xfrm>
        </p:spPr>
        <p:txBody>
          <a:bodyPr anchor="b"/>
          <a:lstStyle/>
          <a:p>
            <a:r>
              <a:rPr lang="en-US" b="1" dirty="0"/>
              <a:t>Quick sort</a:t>
            </a:r>
          </a:p>
        </p:txBody>
      </p:sp>
      <p:sp>
        <p:nvSpPr>
          <p:cNvPr id="20"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798911" y="3006575"/>
            <a:ext cx="10231762" cy="3032733"/>
          </a:xfrm>
        </p:spPr>
        <p:txBody>
          <a:bodyPr>
            <a:noAutofit/>
          </a:bodyPr>
          <a:lstStyle/>
          <a:p>
            <a:pPr marL="0" indent="0">
              <a:buNone/>
            </a:pPr>
            <a:r>
              <a:rPr lang="en-US" sz="2400" dirty="0"/>
              <a:t>Quick Sort performs best when:</a:t>
            </a:r>
          </a:p>
          <a:p>
            <a:r>
              <a:rPr lang="en-US" sz="2400" dirty="0"/>
              <a:t>The input contains </a:t>
            </a:r>
            <a:r>
              <a:rPr lang="en-US" sz="2400" b="1" dirty="0"/>
              <a:t>mixed values</a:t>
            </a:r>
            <a:r>
              <a:rPr lang="en-US" sz="2400" dirty="0"/>
              <a:t> (not too many duplicates)</a:t>
            </a:r>
          </a:p>
          <a:p>
            <a:r>
              <a:rPr lang="en-US" sz="2400" dirty="0"/>
              <a:t>The data is </a:t>
            </a:r>
            <a:r>
              <a:rPr lang="en-US" sz="2400" b="1" dirty="0"/>
              <a:t>partially sorted</a:t>
            </a:r>
            <a:r>
              <a:rPr lang="en-US" sz="2400" dirty="0"/>
              <a:t> or in </a:t>
            </a:r>
            <a:r>
              <a:rPr lang="en-US" sz="2400" b="1" dirty="0"/>
              <a:t>alternating patterns</a:t>
            </a:r>
          </a:p>
          <a:p>
            <a:r>
              <a:rPr lang="en-US" sz="2400" dirty="0"/>
              <a:t>The pivot ends up near the middle after partitioning</a:t>
            </a:r>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14</a:t>
            </a:fld>
            <a:endParaRPr lang="en-US" dirty="0"/>
          </a:p>
        </p:txBody>
      </p:sp>
    </p:spTree>
    <p:extLst>
      <p:ext uri="{BB962C8B-B14F-4D97-AF65-F5344CB8AC3E}">
        <p14:creationId xmlns:p14="http://schemas.microsoft.com/office/powerpoint/2010/main" val="240357798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ED1BF-8C6C-21C9-FFBE-06284F2E00F2}"/>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FBC82428-A6DC-26A9-70B6-37059DABA80C}"/>
              </a:ext>
            </a:extLst>
          </p:cNvPr>
          <p:cNvSpPr>
            <a:spLocks noGrp="1"/>
          </p:cNvSpPr>
          <p:nvPr>
            <p:ph type="title"/>
          </p:nvPr>
        </p:nvSpPr>
        <p:spPr>
          <a:xfrm>
            <a:off x="838200" y="337192"/>
            <a:ext cx="5655197" cy="1997867"/>
          </a:xfrm>
        </p:spPr>
        <p:txBody>
          <a:bodyPr anchor="b"/>
          <a:lstStyle/>
          <a:p>
            <a:r>
              <a:rPr lang="en-US" b="1" dirty="0"/>
              <a:t>Merge sort</a:t>
            </a:r>
          </a:p>
        </p:txBody>
      </p:sp>
      <p:sp>
        <p:nvSpPr>
          <p:cNvPr id="20" name="Content Placeholder 3">
            <a:extLst>
              <a:ext uri="{FF2B5EF4-FFF2-40B4-BE49-F238E27FC236}">
                <a16:creationId xmlns:a16="http://schemas.microsoft.com/office/drawing/2014/main" id="{5973A435-A9AB-F96B-CB25-343883AAB053}"/>
              </a:ext>
            </a:extLst>
          </p:cNvPr>
          <p:cNvSpPr>
            <a:spLocks noGrp="1"/>
          </p:cNvSpPr>
          <p:nvPr>
            <p:ph sz="half" idx="2"/>
          </p:nvPr>
        </p:nvSpPr>
        <p:spPr>
          <a:xfrm>
            <a:off x="798911" y="3006575"/>
            <a:ext cx="10231762" cy="3032733"/>
          </a:xfrm>
        </p:spPr>
        <p:txBody>
          <a:bodyPr>
            <a:noAutofit/>
          </a:bodyPr>
          <a:lstStyle/>
          <a:p>
            <a:pPr marL="0" indent="0">
              <a:buNone/>
            </a:pPr>
            <a:r>
              <a:rPr lang="en-US" sz="2400" dirty="0"/>
              <a:t>Merge Sort performs best when:</a:t>
            </a:r>
          </a:p>
          <a:p>
            <a:r>
              <a:rPr lang="en-IN" sz="2400" dirty="0"/>
              <a:t>Input has </a:t>
            </a:r>
            <a:r>
              <a:rPr lang="en-IN" sz="2400" b="1" dirty="0"/>
              <a:t>many duplicates</a:t>
            </a:r>
          </a:p>
          <a:p>
            <a:r>
              <a:rPr lang="en-US" sz="2400" dirty="0"/>
              <a:t>There is </a:t>
            </a:r>
            <a:r>
              <a:rPr lang="en-US" sz="2400" b="1" dirty="0"/>
              <a:t>large range variation</a:t>
            </a:r>
            <a:r>
              <a:rPr lang="en-US" sz="2400" dirty="0"/>
              <a:t> in values</a:t>
            </a:r>
          </a:p>
          <a:p>
            <a:r>
              <a:rPr lang="en-US" sz="2400" dirty="0"/>
              <a:t>Stable sorting is required (preserves equal element order)</a:t>
            </a:r>
          </a:p>
          <a:p>
            <a:r>
              <a:rPr lang="en-US" sz="2400" dirty="0"/>
              <a:t>Extra memory is not a concern</a:t>
            </a:r>
          </a:p>
        </p:txBody>
      </p:sp>
      <p:sp>
        <p:nvSpPr>
          <p:cNvPr id="9" name="Slide Number Placeholder 8">
            <a:extLst>
              <a:ext uri="{FF2B5EF4-FFF2-40B4-BE49-F238E27FC236}">
                <a16:creationId xmlns:a16="http://schemas.microsoft.com/office/drawing/2014/main" id="{D35BF5B7-5024-5F97-2066-94555482939D}"/>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15</a:t>
            </a:fld>
            <a:endParaRPr lang="en-US" dirty="0"/>
          </a:p>
        </p:txBody>
      </p:sp>
    </p:spTree>
    <p:extLst>
      <p:ext uri="{BB962C8B-B14F-4D97-AF65-F5344CB8AC3E}">
        <p14:creationId xmlns:p14="http://schemas.microsoft.com/office/powerpoint/2010/main" val="894789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50378-C2EC-F98A-1CB2-2D66BC0E2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2B451-DF04-3FEF-2A75-4A6737087BEF}"/>
              </a:ext>
            </a:extLst>
          </p:cNvPr>
          <p:cNvSpPr>
            <a:spLocks noGrp="1"/>
          </p:cNvSpPr>
          <p:nvPr>
            <p:ph type="title"/>
          </p:nvPr>
        </p:nvSpPr>
        <p:spPr>
          <a:xfrm>
            <a:off x="310973" y="451413"/>
            <a:ext cx="5997230" cy="591884"/>
          </a:xfrm>
        </p:spPr>
        <p:txBody>
          <a:bodyPr/>
          <a:lstStyle/>
          <a:p>
            <a:r>
              <a:rPr lang="en-IN" b="1" dirty="0"/>
              <a:t>Summary</a:t>
            </a:r>
            <a:endParaRPr lang="en-US" b="1" dirty="0"/>
          </a:p>
        </p:txBody>
      </p:sp>
      <p:sp>
        <p:nvSpPr>
          <p:cNvPr id="36" name="Content Placeholder 35">
            <a:extLst>
              <a:ext uri="{FF2B5EF4-FFF2-40B4-BE49-F238E27FC236}">
                <a16:creationId xmlns:a16="http://schemas.microsoft.com/office/drawing/2014/main" id="{17915A6B-0B06-A31E-2F96-E0C8F92DB7B6}"/>
              </a:ext>
            </a:extLst>
          </p:cNvPr>
          <p:cNvSpPr>
            <a:spLocks noGrp="1"/>
          </p:cNvSpPr>
          <p:nvPr>
            <p:ph sz="half" idx="15"/>
          </p:nvPr>
        </p:nvSpPr>
        <p:spPr>
          <a:xfrm>
            <a:off x="310972" y="1828800"/>
            <a:ext cx="10684977" cy="3865944"/>
          </a:xfrm>
        </p:spPr>
        <p:txBody>
          <a:bodyPr>
            <a:normAutofit/>
          </a:bodyPr>
          <a:lstStyle/>
          <a:p>
            <a:pPr marL="0" indent="0">
              <a:buNone/>
            </a:pPr>
            <a:r>
              <a:rPr lang="en-US" sz="2400" b="1" dirty="0"/>
              <a:t>Quick Sort </a:t>
            </a:r>
            <a:r>
              <a:rPr lang="en-US" sz="2400" dirty="0"/>
              <a:t>is preferred when memory is limited and fast performance is needed on average, especially for most general-purpose unsorted data like </a:t>
            </a:r>
            <a:r>
              <a:rPr lang="en-US" sz="2400" b="1" dirty="0"/>
              <a:t>user lists, transaction records, or ranking systems</a:t>
            </a:r>
            <a:r>
              <a:rPr lang="en-US" sz="2400" dirty="0"/>
              <a:t>. It works efficiently in-place and is commonly used in web applications and database indexing where speed matters more than stability. </a:t>
            </a:r>
          </a:p>
          <a:p>
            <a:pPr marL="0" indent="0">
              <a:buNone/>
            </a:pPr>
            <a:r>
              <a:rPr lang="en-US" sz="2400" dirty="0"/>
              <a:t>On the other hand, </a:t>
            </a:r>
            <a:r>
              <a:rPr lang="en-US" sz="2400" b="1" dirty="0"/>
              <a:t>Merge Sort</a:t>
            </a:r>
            <a:r>
              <a:rPr lang="en-US" sz="2400" dirty="0"/>
              <a:t> is ideal when stable sorting is required or when handling very large datasets stored on external memory such as disk drives. It is widely used in applications like </a:t>
            </a:r>
            <a:r>
              <a:rPr lang="en-US" sz="2400" b="1" dirty="0"/>
              <a:t>sorting linked lists, organizing large files, and performing data processing</a:t>
            </a:r>
            <a:r>
              <a:rPr lang="en-US" sz="2400" dirty="0"/>
              <a:t> in distributed systems where guaranteed performance is necessary.</a:t>
            </a:r>
          </a:p>
        </p:txBody>
      </p:sp>
      <p:sp>
        <p:nvSpPr>
          <p:cNvPr id="68" name="Slide Number Placeholder 67">
            <a:extLst>
              <a:ext uri="{FF2B5EF4-FFF2-40B4-BE49-F238E27FC236}">
                <a16:creationId xmlns:a16="http://schemas.microsoft.com/office/drawing/2014/main" id="{8713B250-37CA-AF1F-E672-6AB0BABAF466}"/>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16</a:t>
            </a:fld>
            <a:endParaRPr lang="en-US" dirty="0"/>
          </a:p>
        </p:txBody>
      </p:sp>
    </p:spTree>
    <p:extLst>
      <p:ext uri="{BB962C8B-B14F-4D97-AF65-F5344CB8AC3E}">
        <p14:creationId xmlns:p14="http://schemas.microsoft.com/office/powerpoint/2010/main" val="2607392871"/>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262D-88FE-C3CE-0A2D-3B2BD318C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8E84E-2401-A845-1C14-011117ED3235}"/>
              </a:ext>
            </a:extLst>
          </p:cNvPr>
          <p:cNvSpPr>
            <a:spLocks noGrp="1"/>
          </p:cNvSpPr>
          <p:nvPr>
            <p:ph type="title"/>
          </p:nvPr>
        </p:nvSpPr>
        <p:spPr>
          <a:xfrm>
            <a:off x="310973" y="451413"/>
            <a:ext cx="5997230" cy="591884"/>
          </a:xfrm>
        </p:spPr>
        <p:txBody>
          <a:bodyPr/>
          <a:lstStyle/>
          <a:p>
            <a:r>
              <a:rPr lang="en-IN" b="1" dirty="0"/>
              <a:t>conclusion</a:t>
            </a:r>
            <a:endParaRPr lang="en-US" b="1" dirty="0"/>
          </a:p>
        </p:txBody>
      </p:sp>
      <p:sp>
        <p:nvSpPr>
          <p:cNvPr id="36" name="Content Placeholder 35">
            <a:extLst>
              <a:ext uri="{FF2B5EF4-FFF2-40B4-BE49-F238E27FC236}">
                <a16:creationId xmlns:a16="http://schemas.microsoft.com/office/drawing/2014/main" id="{EB6DA2F0-0284-C5FF-33D6-33B1458223C7}"/>
              </a:ext>
            </a:extLst>
          </p:cNvPr>
          <p:cNvSpPr>
            <a:spLocks noGrp="1"/>
          </p:cNvSpPr>
          <p:nvPr>
            <p:ph sz="half" idx="15"/>
          </p:nvPr>
        </p:nvSpPr>
        <p:spPr>
          <a:xfrm>
            <a:off x="310972" y="1828799"/>
            <a:ext cx="11333160" cy="4577788"/>
          </a:xfrm>
        </p:spPr>
        <p:txBody>
          <a:bodyPr>
            <a:normAutofit/>
          </a:bodyPr>
          <a:lstStyle/>
          <a:p>
            <a:pPr marL="342900" indent="-342900">
              <a:buFont typeface="Arial" panose="020B0604020202020204" pitchFamily="34" charset="0"/>
              <a:buChar char="•"/>
            </a:pPr>
            <a:r>
              <a:rPr lang="en-US" sz="2400" dirty="0"/>
              <a:t>Both Quick Sort and Merge Sort are powerful divide-and-conquer sorting algorithms.</a:t>
            </a:r>
          </a:p>
          <a:p>
            <a:pPr marL="342900" indent="-342900">
              <a:buFont typeface="Arial" panose="020B0604020202020204" pitchFamily="34" charset="0"/>
              <a:buChar char="•"/>
            </a:pPr>
            <a:r>
              <a:rPr lang="en-US" sz="2400" b="1" dirty="0"/>
              <a:t>Quick Sort</a:t>
            </a:r>
            <a:r>
              <a:rPr lang="en-US" sz="2400" dirty="0"/>
              <a:t> is generally faster in practical scenarios and requires less memory, making it suitable for most real-time applications.</a:t>
            </a:r>
          </a:p>
          <a:p>
            <a:pPr marL="342900" indent="-342900">
              <a:buFont typeface="Arial" panose="020B0604020202020204" pitchFamily="34" charset="0"/>
              <a:buChar char="•"/>
            </a:pPr>
            <a:r>
              <a:rPr lang="en-US" sz="2400" b="1" dirty="0"/>
              <a:t>Merge Sort</a:t>
            </a:r>
            <a:r>
              <a:rPr lang="en-US" sz="2400" dirty="0"/>
              <a:t> ensures consistent performance and maintains stability, making it ideal for large datasets and situations where data order must be preserved.</a:t>
            </a:r>
          </a:p>
          <a:p>
            <a:pPr marL="342900" indent="-342900">
              <a:buFont typeface="Arial" panose="020B0604020202020204" pitchFamily="34" charset="0"/>
              <a:buChar char="•"/>
            </a:pPr>
            <a:r>
              <a:rPr lang="en-US" sz="2400" dirty="0"/>
              <a:t>Choosing the right algorithm depends on input characteristics, memory constraints, and the need for stability.</a:t>
            </a:r>
          </a:p>
          <a:p>
            <a:pPr marL="342900" indent="-342900">
              <a:buFont typeface="Arial" panose="020B0604020202020204" pitchFamily="34" charset="0"/>
              <a:buChar char="•"/>
            </a:pPr>
            <a:r>
              <a:rPr lang="en-US" sz="2400" dirty="0"/>
              <a:t>There is </a:t>
            </a:r>
            <a:r>
              <a:rPr lang="en-US" sz="2400" b="1" dirty="0"/>
              <a:t>no single best algorithm</a:t>
            </a:r>
            <a:r>
              <a:rPr lang="en-US" sz="2400" dirty="0"/>
              <a:t> — the best choice depends on the specific problem and system requirements.</a:t>
            </a:r>
          </a:p>
        </p:txBody>
      </p:sp>
      <p:sp>
        <p:nvSpPr>
          <p:cNvPr id="68" name="Slide Number Placeholder 67">
            <a:extLst>
              <a:ext uri="{FF2B5EF4-FFF2-40B4-BE49-F238E27FC236}">
                <a16:creationId xmlns:a16="http://schemas.microsoft.com/office/drawing/2014/main" id="{0E832C3E-1E7C-52D9-B430-DCF9257A9FC5}"/>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17</a:t>
            </a:fld>
            <a:endParaRPr lang="en-US" dirty="0"/>
          </a:p>
        </p:txBody>
      </p:sp>
    </p:spTree>
    <p:extLst>
      <p:ext uri="{BB962C8B-B14F-4D97-AF65-F5344CB8AC3E}">
        <p14:creationId xmlns:p14="http://schemas.microsoft.com/office/powerpoint/2010/main" val="567475110"/>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903807" y="2136597"/>
            <a:ext cx="4179570" cy="1524735"/>
          </a:xfrm>
        </p:spPr>
        <p:txBody>
          <a:bodyPr/>
          <a:lstStyle/>
          <a:p>
            <a:r>
              <a:rPr lang="en-US" dirty="0"/>
              <a:t>THANK YOU</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18</a:t>
            </a:fld>
            <a:endParaRPr lang="en-US" dirty="0"/>
          </a:p>
        </p:txBody>
      </p:sp>
    </p:spTree>
    <p:extLst>
      <p:ext uri="{BB962C8B-B14F-4D97-AF65-F5344CB8AC3E}">
        <p14:creationId xmlns:p14="http://schemas.microsoft.com/office/powerpoint/2010/main" val="196978756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presentation</Template>
  <TotalTime>784</TotalTime>
  <Words>958</Words>
  <Application>Microsoft Office PowerPoint</Application>
  <PresentationFormat>Widescreen</PresentationFormat>
  <Paragraphs>171</Paragraphs>
  <Slides>18</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Tenorite</vt:lpstr>
      <vt:lpstr>Custom</vt:lpstr>
      <vt:lpstr>Merge Sort vs Quick Sort</vt:lpstr>
      <vt:lpstr>Contents</vt:lpstr>
      <vt:lpstr>PowerPoint Presentation</vt:lpstr>
      <vt:lpstr>PowerPoint Presentation</vt:lpstr>
      <vt:lpstr>Merge Sort</vt:lpstr>
      <vt:lpstr>  Erfomance Comparsion</vt:lpstr>
      <vt:lpstr>COde implementation</vt:lpstr>
      <vt:lpstr>Merge Sort</vt:lpstr>
      <vt:lpstr>QUICK SORT FUNCTION</vt:lpstr>
      <vt:lpstr>MERGE SORT FUNCTION</vt:lpstr>
      <vt:lpstr>OBSERVATIONS</vt:lpstr>
      <vt:lpstr>OBSERVATIONS</vt:lpstr>
      <vt:lpstr>nalysis</vt:lpstr>
      <vt:lpstr>Quick sort</vt:lpstr>
      <vt:lpstr>Merge sort</vt:lpstr>
      <vt:lpstr>Summary</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Merge Sort vs Quick Sort</dc:title>
  <dc:creator>Sanjay Cheetirala</dc:creator>
  <cp:lastModifiedBy>Yeshwanth Satyada</cp:lastModifiedBy>
  <cp:revision>17</cp:revision>
  <dcterms:created xsi:type="dcterms:W3CDTF">2025-11-17T14:01:25Z</dcterms:created>
  <dcterms:modified xsi:type="dcterms:W3CDTF">2025-12-08T20:08:16Z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